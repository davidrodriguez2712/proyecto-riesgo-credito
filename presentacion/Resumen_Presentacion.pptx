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charts/chart4.xml" ContentType="application/vnd.openxmlformats-officedocument.drawingml.chart+xml"/>
  <Override PartName="/ppt/notesSlides/notesSlide12.xml" ContentType="application/vnd.openxmlformats-officedocument.presentationml.notesSlide+xml"/>
  <Override PartName="/ppt/charts/chart5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6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0" r:id="rId4"/>
    <p:sldId id="261" r:id="rId5"/>
    <p:sldId id="262" r:id="rId6"/>
    <p:sldId id="277" r:id="rId7"/>
    <p:sldId id="263" r:id="rId8"/>
    <p:sldId id="278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12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/Relationships>
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9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Importancia de variables (SHAP – valor absoluto medio)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Impacto medio |SHAP|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Utilización línea de crédito</c:v>
                </c:pt>
                <c:pt idx="1">
                  <c:v>N° atrasos 30-59 días</c:v>
                </c:pt>
                <c:pt idx="2">
                  <c:v>N° atrasos 90+ días</c:v>
                </c:pt>
                <c:pt idx="3">
                  <c:v>N° atrasos 60-89 días</c:v>
                </c:pt>
                <c:pt idx="4">
                  <c:v>Edad</c:v>
                </c:pt>
                <c:pt idx="5">
                  <c:v>Ratio deuda / ingreso</c:v>
                </c:pt>
              </c:strCache>
            </c:strRef>
          </c:cat>
          <c:val>
            <c:numRef>
              <c:f>Sheet1!$B$2:$B$7</c:f>
              <c:numCache>
                <c:formatCode>0.0000</c:formatCode>
                <c:ptCount val="6"/>
                <c:pt idx="0">
                  <c:v>0.0278</c:v>
                </c:pt>
                <c:pt idx="1">
                  <c:v>0.0183</c:v>
                </c:pt>
                <c:pt idx="2">
                  <c:v>0.0178</c:v>
                </c:pt>
                <c:pt idx="3">
                  <c:v>0.0124</c:v>
                </c:pt>
                <c:pt idx="4">
                  <c:v>0.0079</c:v>
                </c:pt>
                <c:pt idx="5">
                  <c:v>0.0063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8E-9547-9037-C4444C194B2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Curva ROC (split de validación) — AUC = 0.8667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Sheet1!$A$2:$A$13</c:f>
              <c:numCache>
                <c:formatCode>0.0000</c:formatCode>
                <c:ptCount val="12"/>
                <c:pt idx="0">
                  <c:v>0</c:v>
                </c:pt>
                <c:pt idx="1">
                  <c:v>0.0077</c:v>
                </c:pt>
                <c:pt idx="2">
                  <c:v>0.0186</c:v>
                </c:pt>
                <c:pt idx="3">
                  <c:v>0.0333</c:v>
                </c:pt>
                <c:pt idx="4">
                  <c:v>0.0528</c:v>
                </c:pt>
                <c:pt idx="5">
                  <c:v>0.0764</c:v>
                </c:pt>
                <c:pt idx="6">
                  <c:v>0.113</c:v>
                </c:pt>
                <c:pt idx="7">
                  <c:v>0.1653</c:v>
                </c:pt>
                <c:pt idx="8">
                  <c:v>0.2353</c:v>
                </c:pt>
                <c:pt idx="9">
                  <c:v>0.3439</c:v>
                </c:pt>
                <c:pt idx="10">
                  <c:v>0.538</c:v>
                </c:pt>
                <c:pt idx="11">
                  <c:v>1</c:v>
                </c:pt>
              </c:numCache>
            </c:numRef>
          </c:xVal>
          <c:yVal>
            <c:numRef>
              <c:f>Sheet1!$B$2:$B$13</c:f>
              <c:numCache>
                <c:formatCode>0.0000</c:formatCode>
                <c:ptCount val="12"/>
                <c:pt idx="0">
                  <c:v>0</c:v>
                </c:pt>
                <c:pt idx="1">
                  <c:v>0.1759</c:v>
                </c:pt>
                <c:pt idx="2">
                  <c:v>0.2985</c:v>
                </c:pt>
                <c:pt idx="3">
                  <c:v>0.4112</c:v>
                </c:pt>
                <c:pt idx="4">
                  <c:v>0.5013</c:v>
                </c:pt>
                <c:pt idx="5">
                  <c:v>0.5868</c:v>
                </c:pt>
                <c:pt idx="6">
                  <c:v>0.6619</c:v>
                </c:pt>
                <c:pt idx="7">
                  <c:v>0.735</c:v>
                </c:pt>
                <c:pt idx="8">
                  <c:v>0.8075</c:v>
                </c:pt>
                <c:pt idx="9">
                  <c:v>0.8773</c:v>
                </c:pt>
                <c:pt idx="10">
                  <c:v>0.9471</c:v>
                </c:pt>
                <c:pt idx="1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D59-1E41-82CF-24443088A5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ln w="38100" cap="flat">
              <a:solidFill>
                <a:srgbClr val="B9C2DE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D59-1E41-82CF-24443088A5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150" b="0" i="0" u="none" strike="noStrike">
                <a:solidFill>
                  <a:srgbClr val="1E2761"/>
                </a:solidFill>
                <a:latin typeface="Calibri"/>
              </a:rPr>
              <a:t>Tasa de default: observada vs. predicha ± IC Vasicek 95% (por decil)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Sheet1!$D$2:$D$11</c:f>
              <c:numCache>
                <c:formatCode>0.00</c:formatCode>
                <c:ptCount val="10"/>
                <c:pt idx="0">
                  <c:v>0.01</c:v>
                </c:pt>
                <c:pt idx="1">
                  <c:v>0.02</c:v>
                </c:pt>
                <c:pt idx="2">
                  <c:v>0.04</c:v>
                </c:pt>
                <c:pt idx="3">
                  <c:v>0.13</c:v>
                </c:pt>
                <c:pt idx="4">
                  <c:v>0.20</c:v>
                </c:pt>
                <c:pt idx="5">
                  <c:v>0.46</c:v>
                </c:pt>
                <c:pt idx="6">
                  <c:v>1.00</c:v>
                </c:pt>
                <c:pt idx="7">
                  <c:v>2.52</c:v>
                </c:pt>
                <c:pt idx="8">
                  <c:v>5.75</c:v>
                </c:pt>
                <c:pt idx="9">
                  <c:v>25.02</c:v>
                </c:pt>
              </c:numCache>
            </c:numRef>
          </c:val>
        </c:ser>
        <c:ser>
          <c:idx val="1"/>
          <c:order val="1"/>
          <c:tx>
            <c:strRef>
              <c:f>Sheet1!$E$1</c:f>
              <c:strCache>
                <c:ptCount val="1"/>
                <c:pt idx="0">
                  <c:v>Intervalo Vasicek (95%)</c:v>
                </c:pt>
              </c:strCache>
            </c:strRef>
          </c:tx>
          <c:spPr>
            <a:solidFill>
              <a:srgbClr val="6FA8DC">
                <a:alpha val="28000"/>
              </a:srgbClr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Sheet1!$E$2:$E$11</c:f>
              <c:numCache>
                <c:formatCode>0.00</c:formatCode>
                <c:ptCount val="10"/>
                <c:pt idx="0">
                  <c:v>1.85</c:v>
                </c:pt>
                <c:pt idx="1">
                  <c:v>2.60</c:v>
                </c:pt>
                <c:pt idx="2">
                  <c:v>3.33</c:v>
                </c:pt>
                <c:pt idx="3">
                  <c:v>4.91</c:v>
                </c:pt>
                <c:pt idx="4">
                  <c:v>5.61</c:v>
                </c:pt>
                <c:pt idx="5">
                  <c:v>7.09</c:v>
                </c:pt>
                <c:pt idx="6">
                  <c:v>8.50</c:v>
                </c:pt>
                <c:pt idx="7">
                  <c:v>10.49</c:v>
                </c:pt>
                <c:pt idx="8">
                  <c:v>13.73</c:v>
                </c:pt>
                <c:pt idx="9">
                  <c:v>25.60</c:v>
                </c:pt>
              </c:numCache>
            </c:numRef>
          </c:val>
        </c:ser>
        <c:axId val="2094734554"/>
        <c:axId val="2094734552"/>
      </c:areaChart>
      <c:lineChart>
        <c:grouping val="standard"/>
        <c:varyColors val="0"/>
        <c:ser>
          <c:idx val="2"/>
          <c:order val="2"/>
          <c:tx>
            <c:strRef>
              <c:f>Sheet1!$B$1</c:f>
              <c:strCache>
                <c:ptCount val="1"/>
                <c:pt idx="0">
                  <c:v>Observado</c:v>
                </c:pt>
              </c:strCache>
            </c:strRef>
          </c:tx>
          <c:spPr>
            <a:ln w="31750" cap="flat">
              <a:solidFill>
                <a:srgbClr val="C9A227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A227"/>
              </a:solidFill>
              <a:ln w="9525" cap="flat">
                <a:solidFill>
                  <a:srgbClr val="C9A22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0.59</c:v>
                </c:pt>
                <c:pt idx="1">
                  <c:v>0.83</c:v>
                </c:pt>
                <c:pt idx="2">
                  <c:v>1.07</c:v>
                </c:pt>
                <c:pt idx="3">
                  <c:v>1.37</c:v>
                </c:pt>
                <c:pt idx="4">
                  <c:v>1.78</c:v>
                </c:pt>
                <c:pt idx="5">
                  <c:v>2.53</c:v>
                </c:pt>
                <c:pt idx="6">
                  <c:v>3.96</c:v>
                </c:pt>
                <c:pt idx="7">
                  <c:v>6.42</c:v>
                </c:pt>
                <c:pt idx="8">
                  <c:v>11.31</c:v>
                </c:pt>
                <c:pt idx="9">
                  <c:v>36.45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6E-4A46-8442-DB900D048546}"/>
            </c:ext>
          </c:extLst>
        </c:ser>
        <c:ser>
          <c:idx val="3"/>
          <c:order val="3"/>
          <c:tx>
            <c:strRef>
              <c:f>Sheet1!$C$1</c:f>
              <c:strCache>
                <c:ptCount val="1"/>
                <c:pt idx="0">
                  <c:v>Predicho (calibrado)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Sheet1!$C$2:$C$11</c:f>
              <c:numCache>
                <c:formatCode>0.00</c:formatCode>
                <c:ptCount val="10"/>
                <c:pt idx="0">
                  <c:v>0.38</c:v>
                </c:pt>
                <c:pt idx="1">
                  <c:v>0.58</c:v>
                </c:pt>
                <c:pt idx="2">
                  <c:v>0.80</c:v>
                </c:pt>
                <c:pt idx="3">
                  <c:v>1.40</c:v>
                </c:pt>
                <c:pt idx="4">
                  <c:v>1.73</c:v>
                </c:pt>
                <c:pt idx="5">
                  <c:v>2.64</c:v>
                </c:pt>
                <c:pt idx="6">
                  <c:v>3.91</c:v>
                </c:pt>
                <c:pt idx="7">
                  <c:v>6.58</c:v>
                </c:pt>
                <c:pt idx="8">
                  <c:v>11.53</c:v>
                </c:pt>
                <c:pt idx="9">
                  <c:v>37.29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E6E-4A46-8442-DB900D0485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000000"/>
                    </a:solidFill>
                    <a:latin typeface="Arial"/>
                  </a:rPr>
                  <a:t>% Default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legendEntry>
        <c:idx val="0"/>
        <c:delete val="1"/>
      </c:legendEntry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Gini mensual — cosecha de monitoreo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Gini mensual</c:v>
                </c:pt>
              </c:strCache>
            </c:strRef>
          </c:tx>
          <c:spPr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2025-07</c:v>
                </c:pt>
                <c:pt idx="1">
                  <c:v>2025-08</c:v>
                </c:pt>
                <c:pt idx="2">
                  <c:v>2025-09</c:v>
                </c:pt>
                <c:pt idx="3">
                  <c:v>2025-10</c:v>
                </c:pt>
                <c:pt idx="4">
                  <c:v>2025-11</c:v>
                </c:pt>
                <c:pt idx="5">
                  <c:v>2025-12</c:v>
                </c:pt>
                <c:pt idx="6">
                  <c:v>2026-01</c:v>
                </c:pt>
                <c:pt idx="7">
                  <c:v>2026-02</c:v>
                </c:pt>
                <c:pt idx="8">
                  <c:v>2026-03</c:v>
                </c:pt>
                <c:pt idx="9">
                  <c:v>2026-04</c:v>
                </c:pt>
                <c:pt idx="10">
                  <c:v>2026-05</c:v>
                </c:pt>
                <c:pt idx="11">
                  <c:v>2026-06</c:v>
                </c:pt>
              </c:strCache>
            </c:strRef>
          </c:cat>
          <c:val>
            <c:numRef>
              <c:f>Sheet1!$B$2:$B$13</c:f>
              <c:numCache>
                <c:formatCode>0.00</c:formatCode>
                <c:ptCount val="12"/>
                <c:pt idx="0">
                  <c:v>0.70</c:v>
                </c:pt>
                <c:pt idx="1">
                  <c:v>0.70</c:v>
                </c:pt>
                <c:pt idx="2">
                  <c:v>0.69</c:v>
                </c:pt>
                <c:pt idx="3">
                  <c:v>0.68</c:v>
                </c:pt>
                <c:pt idx="4">
                  <c:v>0.69</c:v>
                </c:pt>
                <c:pt idx="5">
                  <c:v>0.67</c:v>
                </c:pt>
                <c:pt idx="6">
                  <c:v>0.67</c:v>
                </c:pt>
                <c:pt idx="7">
                  <c:v>0.70</c:v>
                </c:pt>
                <c:pt idx="8">
                  <c:v>0.68</c:v>
                </c:pt>
                <c:pt idx="9">
                  <c:v>0.66</c:v>
                </c:pt>
                <c:pt idx="10">
                  <c:v>0.70</c:v>
                </c:pt>
                <c:pt idx="11">
                  <c:v>0.70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50A-C246-8CA2-28229C67767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.5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Bad rate observado vs. PD promedio predicha — por periodo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 rate observado</c:v>
                </c:pt>
              </c:strCache>
            </c:strRef>
          </c:tx>
          <c:spPr>
            <a:ln w="31750" cap="flat">
              <a:solidFill>
                <a:srgbClr val="C9A227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A227"/>
              </a:solidFill>
              <a:ln w="9525" cap="flat">
                <a:solidFill>
                  <a:srgbClr val="C9A227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Baseline</c:v>
                </c:pt>
                <c:pt idx="1">
                  <c:v>2025-07</c:v>
                </c:pt>
                <c:pt idx="2">
                  <c:v>2025-08</c:v>
                </c:pt>
                <c:pt idx="3">
                  <c:v>2025-09</c:v>
                </c:pt>
                <c:pt idx="4">
                  <c:v>2025-10</c:v>
                </c:pt>
                <c:pt idx="5">
                  <c:v>2025-11</c:v>
                </c:pt>
                <c:pt idx="6">
                  <c:v>2025-12</c:v>
                </c:pt>
                <c:pt idx="7">
                  <c:v>2026-01</c:v>
                </c:pt>
                <c:pt idx="8">
                  <c:v>2026-02</c:v>
                </c:pt>
                <c:pt idx="9">
                  <c:v>2026-03</c:v>
                </c:pt>
                <c:pt idx="10">
                  <c:v>2026-04</c:v>
                </c:pt>
                <c:pt idx="11">
                  <c:v>2026-05</c:v>
                </c:pt>
                <c:pt idx="12">
                  <c:v>2026-06</c:v>
                </c:pt>
              </c:strCache>
            </c:strRef>
          </c:cat>
          <c:val>
            <c:numRef>
              <c:f>Sheet1!$B$2:$B$14</c:f>
              <c:numCache>
                <c:formatCode>0.00</c:formatCode>
                <c:ptCount val="13"/>
                <c:pt idx="0">
                  <c:v>6.68</c:v>
                </c:pt>
                <c:pt idx="1">
                  <c:v>11.32</c:v>
                </c:pt>
                <c:pt idx="2">
                  <c:v>10.60</c:v>
                </c:pt>
                <c:pt idx="3">
                  <c:v>11.29</c:v>
                </c:pt>
                <c:pt idx="4">
                  <c:v>10.86</c:v>
                </c:pt>
                <c:pt idx="5">
                  <c:v>10.92</c:v>
                </c:pt>
                <c:pt idx="6">
                  <c:v>10.88</c:v>
                </c:pt>
                <c:pt idx="7">
                  <c:v>11.66</c:v>
                </c:pt>
                <c:pt idx="8">
                  <c:v>11.19</c:v>
                </c:pt>
                <c:pt idx="9">
                  <c:v>11.16</c:v>
                </c:pt>
                <c:pt idx="10">
                  <c:v>11.05</c:v>
                </c:pt>
                <c:pt idx="11">
                  <c:v>11.28</c:v>
                </c:pt>
                <c:pt idx="12">
                  <c:v>11.03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041-624F-AA10-B2B78BA50CD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PD promedio predicha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Baseline</c:v>
                </c:pt>
                <c:pt idx="1">
                  <c:v>2025-07</c:v>
                </c:pt>
                <c:pt idx="2">
                  <c:v>2025-08</c:v>
                </c:pt>
                <c:pt idx="3">
                  <c:v>2025-09</c:v>
                </c:pt>
                <c:pt idx="4">
                  <c:v>2025-10</c:v>
                </c:pt>
                <c:pt idx="5">
                  <c:v>2025-11</c:v>
                </c:pt>
                <c:pt idx="6">
                  <c:v>2025-12</c:v>
                </c:pt>
                <c:pt idx="7">
                  <c:v>2026-01</c:v>
                </c:pt>
                <c:pt idx="8">
                  <c:v>2026-02</c:v>
                </c:pt>
                <c:pt idx="9">
                  <c:v>2026-03</c:v>
                </c:pt>
                <c:pt idx="10">
                  <c:v>2026-04</c:v>
                </c:pt>
                <c:pt idx="11">
                  <c:v>2026-05</c:v>
                </c:pt>
                <c:pt idx="12">
                  <c:v>2026-06</c:v>
                </c:pt>
              </c:strCache>
            </c:strRef>
          </c:cat>
          <c:val>
            <c:numRef>
              <c:f>Sheet1!$C$2:$C$14</c:f>
              <c:numCache>
                <c:formatCode>0.00</c:formatCode>
                <c:ptCount val="13"/>
                <c:pt idx="0">
                  <c:v>6.66</c:v>
                </c:pt>
                <c:pt idx="1">
                  <c:v>6.71</c:v>
                </c:pt>
                <c:pt idx="2">
                  <c:v>6.84</c:v>
                </c:pt>
                <c:pt idx="3">
                  <c:v>6.74</c:v>
                </c:pt>
                <c:pt idx="4">
                  <c:v>6.47</c:v>
                </c:pt>
                <c:pt idx="5">
                  <c:v>6.69</c:v>
                </c:pt>
                <c:pt idx="6">
                  <c:v>6.59</c:v>
                </c:pt>
                <c:pt idx="7">
                  <c:v>6.80</c:v>
                </c:pt>
                <c:pt idx="8">
                  <c:v>6.72</c:v>
                </c:pt>
                <c:pt idx="9">
                  <c:v>6.55</c:v>
                </c:pt>
                <c:pt idx="10">
                  <c:v>6.63</c:v>
                </c:pt>
                <c:pt idx="11">
                  <c:v>6.72</c:v>
                </c:pt>
                <c:pt idx="12">
                  <c:v>6.74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041-624F-AA10-B2B78BA50C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900" b="0" i="0" u="none" strike="noStrike">
                    <a:solidFill>
                      <a:srgbClr val="000000"/>
                    </a:solidFill>
                    <a:latin typeface="Arial"/>
                  </a:rPr>
                  <a:t>%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ROA de cartera — actual vs. propuesto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Política actual</c:v>
                </c:pt>
              </c:strCache>
            </c:strRef>
          </c:tx>
          <c:spPr>
            <a:solidFill>
              <a:srgbClr val="5B6584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ROA cartera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37-A447-90E3-585773E0747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Modelo propuesto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ROA cartera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2.2000000000000002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B37-A447-90E3-585773E0747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Comparación de modelos — AUC (cross-validation)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 (CV)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LightGBM</c:v>
                </c:pt>
                <c:pt idx="1">
                  <c:v>CatBoost</c:v>
                </c:pt>
                <c:pt idx="2">
                  <c:v>XGBoost</c:v>
                </c:pt>
                <c:pt idx="3">
                  <c:v>RandomForest</c:v>
                </c:pt>
                <c:pt idx="4">
                  <c:v>LogisticRegression</c:v>
                </c:pt>
                <c:pt idx="5">
                  <c:v>DecisionTree</c:v>
                </c:pt>
              </c:strCache>
            </c:strRef>
          </c:cat>
          <c:val>
            <c:numRef>
              <c:f>Sheet1!$B$2:$B$7</c:f>
              <c:numCache>
                <c:formatCode>0.000</c:formatCode>
                <c:ptCount val="6"/>
                <c:pt idx="0">
                  <c:v>0.865</c:v>
                </c:pt>
                <c:pt idx="1">
                  <c:v>0.864</c:v>
                </c:pt>
                <c:pt idx="2">
                  <c:v>0.856</c:v>
                </c:pt>
                <c:pt idx="3">
                  <c:v>0.84</c:v>
                </c:pt>
                <c:pt idx="4">
                  <c:v>0.825</c:v>
                </c:pt>
                <c:pt idx="5">
                  <c:v>0.614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8E-9547-9037-C4444C194B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−1.30pp</c:v>
                </c:pt>
                <c:pt idx="2">
                  <c:v>Edad −0.59pp</c:v>
                </c:pt>
                <c:pt idx="3">
                  <c:v>Ratio deuda −0.22pp</c:v>
                </c:pt>
                <c:pt idx="4">
                  <c:v>Otras −0.24pp</c:v>
                </c:pt>
                <c:pt idx="5">
                  <c:v>Final 0.60%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0.0</c:v>
                </c:pt>
                <c:pt idx="1">
                  <c:v>1.6473000000000002</c:v>
                </c:pt>
                <c:pt idx="2">
                  <c:v>1.0582000000000003</c:v>
                </c:pt>
                <c:pt idx="3">
                  <c:v>0.8382000000000003</c:v>
                </c:pt>
                <c:pt idx="4">
                  <c:v>0.5999000000000003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−1.30pp</c:v>
                </c:pt>
                <c:pt idx="2">
                  <c:v>Edad −0.59pp</c:v>
                </c:pt>
                <c:pt idx="3">
                  <c:v>Ratio deuda −0.22pp</c:v>
                </c:pt>
                <c:pt idx="4">
                  <c:v>Otras −0.24pp</c:v>
                </c:pt>
                <c:pt idx="5">
                  <c:v>Final 0.60%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</c:v>
                </c:pt>
                <c:pt idx="1">
                  <c:v>1.305</c:v>
                </c:pt>
                <c:pt idx="2">
                  <c:v>0.5891</c:v>
                </c:pt>
                <c:pt idx="3">
                  <c:v>0.22</c:v>
                </c:pt>
                <c:pt idx="4">
                  <c:v>0.2383</c:v>
                </c:pt>
                <c:pt idx="5">
                  <c:v>0.6</c:v>
                </c:pt>
              </c:numCache>
            </c:numRef>
          </c:val>
        </c:ser>
        <c:gapWidth val="30"/>
        <c:overlap val="100"/>
        <c:axId val="20947380"/>
        <c:axId val="20947381"/>
      </c:barChart>
      <c:catAx>
        <c:axId val="209473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81"/>
        <c:crosses val="autoZero"/>
        <c:auto val="1"/>
        <c:lblAlgn val="ctr"/>
        <c:lblOffset val="100"/>
        <c:noMultiLvlLbl val="1"/>
      </c:catAx>
      <c:valAx>
        <c:axId val="2094738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8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Atraso 30-59d −0.46pp</c:v>
                </c:pt>
                <c:pt idx="2">
                  <c:v>Ingreso mensual +0.28pp</c:v>
                </c:pt>
                <c:pt idx="3">
                  <c:v>N° líneas −0.27pp</c:v>
                </c:pt>
                <c:pt idx="4">
                  <c:v>Otras −0.49pp</c:v>
                </c:pt>
                <c:pt idx="5">
                  <c:v>Final 2.00%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0.0</c:v>
                </c:pt>
                <c:pt idx="1">
                  <c:v>2.4881</c:v>
                </c:pt>
                <c:pt idx="2">
                  <c:v>2.4881</c:v>
                </c:pt>
                <c:pt idx="3">
                  <c:v>2.4891</c:v>
                </c:pt>
                <c:pt idx="4">
                  <c:v>2.0004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4C4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Atraso 30-59d −0.46pp</c:v>
                </c:pt>
                <c:pt idx="2">
                  <c:v>Ingreso mensual +0.28pp</c:v>
                </c:pt>
                <c:pt idx="3">
                  <c:v>N° líneas −0.27pp</c:v>
                </c:pt>
                <c:pt idx="4">
                  <c:v>Otras −0.49pp</c:v>
                </c:pt>
                <c:pt idx="5">
                  <c:v>Final 2.00%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</c:v>
                </c:pt>
                <c:pt idx="1">
                  <c:v>0.4642</c:v>
                </c:pt>
                <c:pt idx="2">
                  <c:v>0.2759</c:v>
                </c:pt>
                <c:pt idx="3">
                  <c:v>0.2749</c:v>
                </c:pt>
                <c:pt idx="4">
                  <c:v>0.4887</c:v>
                </c:pt>
                <c:pt idx="5">
                  <c:v>2.0003</c:v>
                </c:pt>
              </c:numCache>
            </c:numRef>
          </c:val>
        </c:ser>
        <c:gapWidth val="30"/>
        <c:overlap val="100"/>
        <c:axId val="20947390"/>
        <c:axId val="20947391"/>
      </c:barChart>
      <c:catAx>
        <c:axId val="2094739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91"/>
        <c:crosses val="autoZero"/>
        <c:auto val="1"/>
        <c:lblAlgn val="ctr"/>
        <c:lblOffset val="100"/>
        <c:noMultiLvlLbl val="1"/>
      </c:catAx>
      <c:valAx>
        <c:axId val="2094739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9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+4.46pp</c:v>
                </c:pt>
                <c:pt idx="2">
                  <c:v>Ratio deuda +1.52pp</c:v>
                </c:pt>
                <c:pt idx="3">
                  <c:v>Atraso 30-59d −1.25pp</c:v>
                </c:pt>
                <c:pt idx="4">
                  <c:v>Otras +0.32pp</c:v>
                </c:pt>
                <c:pt idx="5">
                  <c:v>Final 8.00%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0.0</c:v>
                </c:pt>
                <c:pt idx="1">
                  <c:v>2.9523</c:v>
                </c:pt>
                <c:pt idx="2">
                  <c:v>7.4135</c:v>
                </c:pt>
                <c:pt idx="3">
                  <c:v>7.6846000000000005</c:v>
                </c:pt>
                <c:pt idx="4">
                  <c:v>7.6846000000000005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84C4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4C4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84C4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+4.46pp</c:v>
                </c:pt>
                <c:pt idx="2">
                  <c:v>Ratio deuda +1.52pp</c:v>
                </c:pt>
                <c:pt idx="3">
                  <c:v>Atraso 30-59d −1.25pp</c:v>
                </c:pt>
                <c:pt idx="4">
                  <c:v>Otras +0.32pp</c:v>
                </c:pt>
                <c:pt idx="5">
                  <c:v>Final 8.00%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</c:v>
                </c:pt>
                <c:pt idx="1">
                  <c:v>4.4612</c:v>
                </c:pt>
                <c:pt idx="2">
                  <c:v>1.5223</c:v>
                </c:pt>
                <c:pt idx="3">
                  <c:v>1.2512</c:v>
                </c:pt>
                <c:pt idx="4">
                  <c:v>0.3153</c:v>
                </c:pt>
                <c:pt idx="5">
                  <c:v>7.9999</c:v>
                </c:pt>
              </c:numCache>
            </c:numRef>
          </c:val>
        </c:ser>
        <c:gapWidth val="30"/>
        <c:overlap val="100"/>
        <c:axId val="209473100"/>
        <c:axId val="209473101"/>
      </c:barChart>
      <c:catAx>
        <c:axId val="2094731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101"/>
        <c:crosses val="autoZero"/>
        <c:auto val="1"/>
        <c:lblAlgn val="ctr"/>
        <c:lblOffset val="100"/>
        <c:noMultiLvlLbl val="1"/>
      </c:catAx>
      <c:valAx>
        <c:axId val="20947310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10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1235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80B65-1B88-8D12-BCFD-14F1D0018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2F99E-F23F-4A01-0AAB-5BA8FC29D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2F11C4-A63D-C4FC-6A61-7A58A294B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2126-37E6-8DF6-059F-6ED7C5CAE6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522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DE0BA-8132-575C-CA54-973427F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BAD2A6-49C9-9BDF-2954-155449733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17B727-9092-A8CC-C042-11D660B8DE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C73AA-EE0A-3A6F-E2E7-7354F4E0AB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629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8869680" y="-2286000"/>
            <a:ext cx="6400800" cy="6400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Shape 2"/>
          <p:cNvSpPr/>
          <p:nvPr/>
        </p:nvSpPr>
        <p:spPr>
          <a:xfrm>
            <a:off x="10332720" y="4389120"/>
            <a:ext cx="3657600" cy="3657600"/>
          </a:xfrm>
          <a:prstGeom prst="ellipse">
            <a:avLst/>
          </a:prstGeom>
          <a:solidFill>
            <a:srgbClr val="232A5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MACHINE LEARNING · RIESGO DE CRÉDITO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Me Credit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Scoring de Riesgo Crediticio — De los datos a la decisión de negocio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9" name="Text 7"/>
          <p:cNvSpPr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Rodriguez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Postulación: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 Jr.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029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bloques, una sola historia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se presenta en dos partes: primero la construcción y validación técnica del modelo, luego su traducción en decisiones e impacto para el negocio.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94960" cy="8229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5"/>
          <p:cNvSpPr/>
          <p:nvPr/>
        </p:nvSpPr>
        <p:spPr>
          <a:xfrm>
            <a:off x="86868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450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68680" y="31546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" name="Text 8"/>
          <p:cNvSpPr/>
          <p:nvPr/>
        </p:nvSpPr>
        <p:spPr>
          <a:xfrm>
            <a:off x="86868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96" dirty="0"/>
          </a:p>
        </p:txBody>
      </p:sp>
      <p:sp>
        <p:nvSpPr>
          <p:cNvPr id="11" name="Text 9"/>
          <p:cNvSpPr/>
          <p:nvPr/>
        </p:nvSpPr>
        <p:spPr>
          <a:xfrm>
            <a:off x="1325880" y="3136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objetivo y filtros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721608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1"/>
          <p:cNvSpPr/>
          <p:nvPr/>
        </p:nvSpPr>
        <p:spPr>
          <a:xfrm>
            <a:off x="868680" y="3721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96" dirty="0"/>
          </a:p>
        </p:txBody>
      </p:sp>
      <p:sp>
        <p:nvSpPr>
          <p:cNvPr id="14" name="Text 12"/>
          <p:cNvSpPr/>
          <p:nvPr/>
        </p:nvSpPr>
        <p:spPr>
          <a:xfrm>
            <a:off x="1325880" y="3703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4288536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6" name="Text 14"/>
          <p:cNvSpPr/>
          <p:nvPr/>
        </p:nvSpPr>
        <p:spPr>
          <a:xfrm>
            <a:off x="868680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96" dirty="0"/>
          </a:p>
        </p:txBody>
      </p:sp>
      <p:sp>
        <p:nvSpPr>
          <p:cNvPr id="17" name="Text 15"/>
          <p:cNvSpPr/>
          <p:nvPr/>
        </p:nvSpPr>
        <p:spPr>
          <a:xfrm>
            <a:off x="1325880" y="4270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 interpretabilidad (SHAP)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855464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9" name="Text 17"/>
          <p:cNvSpPr/>
          <p:nvPr/>
        </p:nvSpPr>
        <p:spPr>
          <a:xfrm>
            <a:off x="868680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96" dirty="0"/>
          </a:p>
        </p:txBody>
      </p:sp>
      <p:sp>
        <p:nvSpPr>
          <p:cNvPr id="20" name="Text 18"/>
          <p:cNvSpPr/>
          <p:nvPr/>
        </p:nvSpPr>
        <p:spPr>
          <a:xfrm>
            <a:off x="1325880" y="48371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Desempeño y calibración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5422392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2" name="Text 20"/>
          <p:cNvSpPr/>
          <p:nvPr/>
        </p:nvSpPr>
        <p:spPr>
          <a:xfrm>
            <a:off x="868680" y="5422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96" dirty="0"/>
          </a:p>
        </p:txBody>
      </p:sp>
      <p:sp>
        <p:nvSpPr>
          <p:cNvPr id="23" name="Text 21"/>
          <p:cNvSpPr/>
          <p:nvPr/>
        </p:nvSpPr>
        <p:spPr>
          <a:xfrm>
            <a:off x="1325880" y="54041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 (Gini mensual) y backtest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21031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5" name="Shape 23"/>
          <p:cNvSpPr/>
          <p:nvPr/>
        </p:nvSpPr>
        <p:spPr>
          <a:xfrm>
            <a:off x="6263640" y="2103120"/>
            <a:ext cx="5394960" cy="82296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6" name="Text 24"/>
          <p:cNvSpPr/>
          <p:nvPr/>
        </p:nvSpPr>
        <p:spPr>
          <a:xfrm>
            <a:off x="658368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0" y="2450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Negocio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583680" y="3154680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9" name="Text 27"/>
          <p:cNvSpPr/>
          <p:nvPr/>
        </p:nvSpPr>
        <p:spPr>
          <a:xfrm>
            <a:off x="658368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96" dirty="0"/>
          </a:p>
        </p:txBody>
      </p:sp>
      <p:sp>
        <p:nvSpPr>
          <p:cNvPr id="30" name="Text 28"/>
          <p:cNvSpPr/>
          <p:nvPr/>
        </p:nvSpPr>
        <p:spPr>
          <a:xfrm>
            <a:off x="7040880" y="3136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score a política de decisión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583680" y="3721608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2" name="Text 30"/>
          <p:cNvSpPr/>
          <p:nvPr/>
        </p:nvSpPr>
        <p:spPr>
          <a:xfrm>
            <a:off x="6583680" y="3721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96" dirty="0"/>
          </a:p>
        </p:txBody>
      </p:sp>
      <p:sp>
        <p:nvSpPr>
          <p:cNvPr id="33" name="Text 31"/>
          <p:cNvSpPr/>
          <p:nvPr/>
        </p:nvSpPr>
        <p:spPr>
          <a:xfrm>
            <a:off x="7040880" y="3703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clave en lenguaje de negocio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583680" y="4288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5" name="Text 33"/>
          <p:cNvSpPr/>
          <p:nvPr/>
        </p:nvSpPr>
        <p:spPr>
          <a:xfrm>
            <a:off x="6583680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96" dirty="0"/>
          </a:p>
        </p:txBody>
      </p:sp>
      <p:sp>
        <p:nvSpPr>
          <p:cNvPr id="36" name="Text 34"/>
          <p:cNvSpPr/>
          <p:nvPr/>
        </p:nvSpPr>
        <p:spPr>
          <a:xfrm>
            <a:off x="7040880" y="4270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económico (ROA)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583680" y="4855464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8" name="Text 36"/>
          <p:cNvSpPr/>
          <p:nvPr/>
        </p:nvSpPr>
        <p:spPr>
          <a:xfrm>
            <a:off x="6583680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96" dirty="0"/>
          </a:p>
        </p:txBody>
      </p:sp>
      <p:sp>
        <p:nvSpPr>
          <p:cNvPr id="39" name="Text 37"/>
          <p:cNvSpPr/>
          <p:nvPr/>
        </p:nvSpPr>
        <p:spPr>
          <a:xfrm>
            <a:off x="7040880" y="48371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escenarios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583680" y="5422392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1" name="Text 39"/>
          <p:cNvSpPr/>
          <p:nvPr/>
        </p:nvSpPr>
        <p:spPr>
          <a:xfrm>
            <a:off x="6583680" y="5422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96" dirty="0"/>
          </a:p>
        </p:txBody>
      </p:sp>
      <p:sp>
        <p:nvSpPr>
          <p:cNvPr id="42" name="Text 40"/>
          <p:cNvSpPr/>
          <p:nvPr/>
        </p:nvSpPr>
        <p:spPr>
          <a:xfrm>
            <a:off x="7040880" y="54041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e implementación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-2743200" y="24688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Text 2"/>
          <p:cNvSpPr/>
          <p:nvPr/>
        </p:nvSpPr>
        <p:spPr>
          <a:xfrm>
            <a:off x="1097280" y="2651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DE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30175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 Técnico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972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construyó, validó y calibró el modelo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 de datos y descripción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150,000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entrenamiento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8" name="Text 6"/>
          <p:cNvSpPr/>
          <p:nvPr/>
        </p:nvSpPr>
        <p:spPr>
          <a:xfrm>
            <a:off x="333756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47472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predictoras (buró + comportamiento)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612648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~6.7%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6364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default en la muestra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4" name="Text 12"/>
          <p:cNvSpPr/>
          <p:nvPr/>
        </p:nvSpPr>
        <p:spPr>
          <a:xfrm>
            <a:off x="891540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/ 30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05256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train / test estratificado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disponibles (grupos principales)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8" name="Shape 16"/>
          <p:cNvSpPr/>
          <p:nvPr/>
        </p:nvSpPr>
        <p:spPr>
          <a:xfrm>
            <a:off x="749808" y="405993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9" name="Text 17"/>
          <p:cNvSpPr/>
          <p:nvPr/>
        </p:nvSpPr>
        <p:spPr>
          <a:xfrm>
            <a:off x="749808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20" name="Text 18"/>
          <p:cNvSpPr/>
          <p:nvPr/>
        </p:nvSpPr>
        <p:spPr>
          <a:xfrm>
            <a:off x="1325880" y="391363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Utilización de crédito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422452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línea revolvente utilizada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45352" y="384048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3" name="Shape 21"/>
          <p:cNvSpPr/>
          <p:nvPr/>
        </p:nvSpPr>
        <p:spPr>
          <a:xfrm>
            <a:off x="6446520" y="4059936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4" name="Text 22"/>
          <p:cNvSpPr/>
          <p:nvPr/>
        </p:nvSpPr>
        <p:spPr>
          <a:xfrm>
            <a:off x="6446520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25" name="Text 23"/>
          <p:cNvSpPr/>
          <p:nvPr/>
        </p:nvSpPr>
        <p:spPr>
          <a:xfrm>
            <a:off x="7022592" y="391363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Morosidad histórica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22592" y="422452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de veces con atraso 30-59 / 60-89 / 90+ días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73752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8" name="Shape 26"/>
          <p:cNvSpPr/>
          <p:nvPr/>
        </p:nvSpPr>
        <p:spPr>
          <a:xfrm>
            <a:off x="749808" y="50932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9" name="Text 27"/>
          <p:cNvSpPr/>
          <p:nvPr/>
        </p:nvSpPr>
        <p:spPr>
          <a:xfrm>
            <a:off x="749808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30" name="Text 28"/>
          <p:cNvSpPr/>
          <p:nvPr/>
        </p:nvSpPr>
        <p:spPr>
          <a:xfrm>
            <a:off x="1325880" y="494690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deuda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25880" y="525780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deuda/ingreso, líneas abiertas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45352" y="4873752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33" name="Shape 31"/>
          <p:cNvSpPr/>
          <p:nvPr/>
        </p:nvSpPr>
        <p:spPr>
          <a:xfrm>
            <a:off x="6446520" y="5093208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4" name="Text 32"/>
          <p:cNvSpPr/>
          <p:nvPr/>
        </p:nvSpPr>
        <p:spPr>
          <a:xfrm>
            <a:off x="6446520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35" name="Text 33"/>
          <p:cNvSpPr/>
          <p:nvPr/>
        </p:nvSpPr>
        <p:spPr>
          <a:xfrm>
            <a:off x="7022592" y="494690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demográfico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022592" y="525780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Edad, dependientes, propiedades inmobiliarias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y pipeline de modelamiento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713232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13232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distribuciones, correlaciones y calidad de dato.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0" name="Text 8"/>
          <p:cNvSpPr/>
          <p:nvPr/>
        </p:nvSpPr>
        <p:spPr>
          <a:xfrm>
            <a:off x="2944368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944368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44368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values, outliers y winsorización de variables.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82896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10912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5" name="Text 13"/>
          <p:cNvSpPr/>
          <p:nvPr/>
        </p:nvSpPr>
        <p:spPr>
          <a:xfrm>
            <a:off x="5175504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175504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75504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Binning y Log-Odds Rolling Smoothing, ratios derivados y transformaciones.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14032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242048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" name="Text 18"/>
          <p:cNvSpPr/>
          <p:nvPr/>
        </p:nvSpPr>
        <p:spPr>
          <a:xfrm>
            <a:off x="7406640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406640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Partición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06640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/ Out-of-Time (OOT) estratificados.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45168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73184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5" name="Text 23"/>
          <p:cNvSpPr/>
          <p:nvPr/>
        </p:nvSpPr>
        <p:spPr>
          <a:xfrm>
            <a:off x="9637776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637776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37776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y comparación de algoritmos candidatos.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final seleccionado por desempeño e interpretabilidad: CatBoost, elegido frente a 6 algoritmos comparados.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C58F9-2E04-769D-0678-546F6E0B9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0B399F2-9E00-2725-F75C-34FEA0DC99B7}"/>
              </a:ext>
            </a:extLst>
          </p:cNvPr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D27ABC8-3779-6B82-E0E6-02525B0D2DF8}"/>
              </a:ext>
            </a:extLst>
          </p:cNvPr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Elección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del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</a:t>
            </a:r>
            <a:endParaRPr lang="en-US" sz="32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D73B31FB-44C1-992F-2749-7EBEA10BAA67}"/>
              </a:ext>
            </a:extLst>
          </p:cNvPr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de AUC (cross-validation) entre los 6 algoritmos evaluados en 03_training_model.ipynb.</a:t>
            </a: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DEF73A4A-532F-20A1-5094-CD8293DCDCE8}"/>
              </a:ext>
            </a:extLst>
          </p:cNvPr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DA06E1D-BDC5-1C83-3D17-F6D4A7AB164D}"/>
              </a:ext>
            </a:extLst>
          </p:cNvPr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100" name="Chart 99"/>
          <p:cNvGraphicFramePr/>
          <p:nvPr/>
        </p:nvGraphicFramePr>
        <p:xfrm>
          <a:off x="548640" y="1874520"/>
          <a:ext cx="658368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1" name="Shape 100"/>
          <p:cNvSpPr/>
          <p:nvPr/>
        </p:nvSpPr>
        <p:spPr>
          <a:xfrm>
            <a:off x="7406640" y="1874520"/>
            <a:ext cx="4206240" cy="429768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2" name="Text 101"/>
          <p:cNvSpPr/>
          <p:nvPr/>
        </p:nvSpPr>
        <p:spPr>
          <a:xfrm>
            <a:off x="7680960" y="2084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CatBoost</a:t>
            </a:r>
          </a:p>
        </p:txBody>
      </p:sp>
      <p:sp>
        <p:nvSpPr>
          <p:cNvPr id="103" name="Shape 102"/>
          <p:cNvSpPr/>
          <p:nvPr/>
        </p:nvSpPr>
        <p:spPr>
          <a:xfrm>
            <a:off x="7680960" y="26609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4" name="Text 103"/>
          <p:cNvSpPr/>
          <p:nvPr/>
        </p:nvSpPr>
        <p:spPr>
          <a:xfrm>
            <a:off x="7909560" y="2514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LogisticRegression alcanzó un AUC (CV) de 0.825 — competitivo e interpretable, pero no fue el modelo elegido.</a:t>
            </a:r>
          </a:p>
        </p:txBody>
      </p:sp>
      <p:sp>
        <p:nvSpPr>
          <p:cNvPr id="105" name="Shape 104"/>
          <p:cNvSpPr/>
          <p:nvPr/>
        </p:nvSpPr>
        <p:spPr>
          <a:xfrm>
            <a:off x="7680960" y="35295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6" name="Text 105"/>
          <p:cNvSpPr/>
          <p:nvPr/>
        </p:nvSpPr>
        <p:spPr>
          <a:xfrm>
            <a:off x="7909560" y="33832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(0.864) y LightGBM (0.865) tuvieron mejor poder predictivo en la comparación de 6 modelos evaluados.</a:t>
            </a:r>
          </a:p>
        </p:txBody>
      </p:sp>
      <p:sp>
        <p:nvSpPr>
          <p:cNvPr id="107" name="Shape 106"/>
          <p:cNvSpPr/>
          <p:nvPr/>
        </p:nvSpPr>
        <p:spPr>
          <a:xfrm>
            <a:off x="7680960" y="439826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8" name="Text 107"/>
          <p:cNvSpPr/>
          <p:nvPr/>
        </p:nvSpPr>
        <p:spPr>
          <a:xfrm>
            <a:off x="7909560" y="4251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se seleccionó como campeón de producción por su balance entre desempeño e interpretabilidad (soporte nativo de SHAP).</a:t>
            </a:r>
          </a:p>
        </p:txBody>
      </p:sp>
    </p:spTree>
    <p:extLst>
      <p:ext uri="{BB962C8B-B14F-4D97-AF65-F5344CB8AC3E}">
        <p14:creationId xmlns:p14="http://schemas.microsoft.com/office/powerpoint/2010/main" val="2376053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 de variables e interpretabilidad (SHAP)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siempre lo revisa negocio: qué variables mueven el modelo y por qué.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874520"/>
          <a:ext cx="658368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874520"/>
            <a:ext cx="4206240" cy="429768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680960" y="2084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 del SHAP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680960" y="26609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6"/>
          <p:cNvSpPr/>
          <p:nvPr/>
        </p:nvSpPr>
        <p:spPr>
          <a:xfrm>
            <a:off x="7909560" y="2514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mayor utilización de la línea, mayor probabilidad de default (dirección positiva y consistente).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80960" y="35295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8"/>
          <p:cNvSpPr/>
          <p:nvPr/>
        </p:nvSpPr>
        <p:spPr>
          <a:xfrm>
            <a:off x="7909560" y="33832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atrasos de 30-59 días son el segundo driver más fuerte del score, seguidos por atrasos de 90+ y 60-89 días.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80960" y="439826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0"/>
          <p:cNvSpPr/>
          <p:nvPr/>
        </p:nvSpPr>
        <p:spPr>
          <a:xfrm>
            <a:off x="7909560" y="4251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efecto de la edad es no lineal: clientes jóvenes concentran mayor riesgo relativo.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80960" y="526694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5" name="Text 12"/>
          <p:cNvSpPr/>
          <p:nvPr/>
        </p:nvSpPr>
        <p:spPr>
          <a:xfrm>
            <a:off x="7909560" y="51206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waterfall individual permite explicar el score de cada cliente ante auditoría o reclamo.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532FF-7DA2-67E8-7E2D-7AB95085B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C0A411E-58B5-908E-041F-5849E50C974A}"/>
              </a:ext>
            </a:extLst>
          </p:cNvPr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67FBF04-0C45-BC5A-A122-3392CC807B1A}"/>
              </a:ext>
            </a:extLst>
          </p:cNvPr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Simulación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para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diferentes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tipos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de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clientes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D0B7C5-BB10-388F-D8BF-C129E5B74D96}"/>
              </a:ext>
            </a:extLst>
          </p:cNvPr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las features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4999F414-0469-8580-B27F-1D9C47C8710A}"/>
              </a:ext>
            </a:extLst>
          </p:cNvPr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F568066-9442-1A0E-74E5-176BF1CC6E71}"/>
              </a:ext>
            </a:extLst>
          </p:cNvPr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200" name="Card0Shape4"/>
          <p:cNvSpPr/>
          <p:nvPr/>
        </p:nvSpPr>
        <p:spPr>
          <a:xfrm>
            <a:off x="54864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1" name="Card0Shape5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02" name="Card0Shape6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03" name="Card0Shape7"/>
          <p:cNvSpPr/>
          <p:nvPr/>
        </p:nvSpPr>
        <p:spPr>
          <a:xfrm>
            <a:off x="146304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dirty="0"/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Bajo Riesgo</a:t>
            </a:r>
          </a:p>
        </p:txBody>
      </p:sp>
      <p:sp>
        <p:nvSpPr>
          <p:cNvPr id="204" name="Card0Shape8"/>
          <p:cNvSpPr/>
          <p:nvPr/>
        </p:nvSpPr>
        <p:spPr>
          <a:xfrm>
            <a:off x="82296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</a:p>
        </p:txBody>
      </p:sp>
      <p:sp>
        <p:nvSpPr>
          <p:cNvPr id="205" name="Card0Shape9"/>
          <p:cNvSpPr/>
          <p:nvPr/>
        </p:nvSpPr>
        <p:spPr>
          <a:xfrm>
            <a:off x="82296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0.60%</a:t>
            </a:r>
          </a:p>
        </p:txBody>
      </p:sp>
      <p:sp>
        <p:nvSpPr>
          <p:cNvPr id="206" name="Card0Shape10"/>
          <p:cNvSpPr/>
          <p:nvPr/>
        </p:nvSpPr>
        <p:spPr>
          <a:xfrm>
            <a:off x="82296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08" name="Card1Shape4"/>
          <p:cNvSpPr/>
          <p:nvPr/>
        </p:nvSpPr>
        <p:spPr>
          <a:xfrm>
            <a:off x="434340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9" name="Card1Shape5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0" name="Card1Shape6"/>
          <p:cNvSpPr/>
          <p:nvPr/>
        </p:nvSpPr>
        <p:spPr>
          <a:xfrm>
            <a:off x="4617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11" name="Card1Shape7"/>
          <p:cNvSpPr/>
          <p:nvPr/>
        </p:nvSpPr>
        <p:spPr>
          <a:xfrm>
            <a:off x="525780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dirty="0"/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Medio Riesgo</a:t>
            </a:r>
          </a:p>
        </p:txBody>
      </p:sp>
      <p:sp>
        <p:nvSpPr>
          <p:cNvPr id="212" name="Card1Shape8"/>
          <p:cNvSpPr/>
          <p:nvPr/>
        </p:nvSpPr>
        <p:spPr>
          <a:xfrm>
            <a:off x="461772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</a:p>
        </p:txBody>
      </p:sp>
      <p:sp>
        <p:nvSpPr>
          <p:cNvPr id="213" name="Card1Shape9"/>
          <p:cNvSpPr/>
          <p:nvPr/>
        </p:nvSpPr>
        <p:spPr>
          <a:xfrm>
            <a:off x="461772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2.00%</a:t>
            </a:r>
          </a:p>
        </p:txBody>
      </p:sp>
      <p:sp>
        <p:nvSpPr>
          <p:cNvPr id="214" name="Card1Shape10"/>
          <p:cNvSpPr/>
          <p:nvPr/>
        </p:nvSpPr>
        <p:spPr>
          <a:xfrm>
            <a:off x="461772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16" name="Card2Shape4"/>
          <p:cNvSpPr/>
          <p:nvPr/>
        </p:nvSpPr>
        <p:spPr>
          <a:xfrm>
            <a:off x="813816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17" name="Card2Shape5"/>
          <p:cNvSpPr/>
          <p:nvPr/>
        </p:nvSpPr>
        <p:spPr>
          <a:xfrm>
            <a:off x="8412480" y="1965960"/>
            <a:ext cx="457200" cy="457200"/>
          </a:xfrm>
          <a:prstGeom prst="ellipse">
            <a:avLst/>
          </a:prstGeom>
          <a:solidFill>
            <a:srgbClr val="B84C4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8" name="Card2Shape6"/>
          <p:cNvSpPr/>
          <p:nvPr/>
        </p:nvSpPr>
        <p:spPr>
          <a:xfrm>
            <a:off x="84124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19" name="Card2Shape7"/>
          <p:cNvSpPr/>
          <p:nvPr/>
        </p:nvSpPr>
        <p:spPr>
          <a:xfrm>
            <a:off x="905256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dirty="0"/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Riesgo</a:t>
            </a:r>
          </a:p>
        </p:txBody>
      </p:sp>
      <p:sp>
        <p:nvSpPr>
          <p:cNvPr id="220" name="Card2Shape8"/>
          <p:cNvSpPr/>
          <p:nvPr/>
        </p:nvSpPr>
        <p:spPr>
          <a:xfrm>
            <a:off x="841248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</a:p>
        </p:txBody>
      </p:sp>
      <p:sp>
        <p:nvSpPr>
          <p:cNvPr id="221" name="Card2Shape9"/>
          <p:cNvSpPr/>
          <p:nvPr/>
        </p:nvSpPr>
        <p:spPr>
          <a:xfrm>
            <a:off x="841248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  <a:r>
              <a:rPr lang="en-US" sz="2200" b="1" dirty="0">
                <a:solidFill>
                  <a:srgbClr val="B8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8.00%</a:t>
            </a:r>
          </a:p>
        </p:txBody>
      </p:sp>
      <p:sp>
        <p:nvSpPr>
          <p:cNvPr id="222" name="Card2Shape10"/>
          <p:cNvSpPr/>
          <p:nvPr/>
        </p:nvSpPr>
        <p:spPr>
          <a:xfrm>
            <a:off x="841248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graphicFrame>
        <p:nvGraphicFramePr>
          <p:cNvPr id="300" name="WaterfallChart0"/>
          <p:cNvGraphicFramePr/>
          <p:nvPr/>
        </p:nvGraphicFramePr>
        <p:xfrm>
          <a:off x="66294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1" name="WaterfallChart1"/>
          <p:cNvGraphicFramePr/>
          <p:nvPr/>
        </p:nvGraphicFramePr>
        <p:xfrm>
          <a:off x="445770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02" name="WaterfallChart2"/>
          <p:cNvGraphicFramePr/>
          <p:nvPr/>
        </p:nvGraphicFramePr>
        <p:xfrm>
          <a:off x="825246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34447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y métricas de desempeño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212080" cy="13716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Max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- ROC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0" name="Table 149"/>
          <p:cNvGraphicFramePr>
            <a:graphicFrameLocks noGrp="1"/>
          </p:cNvGraphicFramePr>
          <p:nvPr/>
        </p:nvGraphicFramePr>
        <p:xfrm>
          <a:off x="548640" y="4754880"/>
          <a:ext cx="5212080" cy="1524000"/>
        </p:xfrm>
        <a:graphic>
          <a:graphicData uri="http://schemas.openxmlformats.org/drawingml/2006/table">
            <a:tbl>
              <a:tblPr/>
              <a:tblGrid>
                <a:gridCol w="1920240"/>
                <a:gridCol w="1097280"/>
                <a:gridCol w="1097280"/>
                <a:gridCol w="1097280"/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Alto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/>
          <p:cNvGraphicFramePr/>
          <p:nvPr/>
        </p:nvGraphicFramePr>
        <p:xfrm>
          <a:off x="6126480" y="1691640"/>
          <a:ext cx="54864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DECF00-92AB-E748-C344-6D28462BD667}"/>
              </a:ext>
            </a:extLst>
          </p:cNvPr>
          <p:cNvSpPr/>
          <p:nvPr/>
        </p:nvSpPr>
        <p:spPr>
          <a:xfrm>
            <a:off x="701040" y="38557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mantiene discriminación estable entre train, test y out-of-time — sin señales de sobreajuste relevante.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Calibración del modelo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modelo discrimine bien no basta: la probabilidad predicha debe reflejar la tasa de default real, porque de ahí salen pricing y provisiones.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11680"/>
          <a:ext cx="64008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2011680"/>
            <a:ext cx="43891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49808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y lectura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498080" y="279806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6"/>
          <p:cNvSpPr/>
          <p:nvPr/>
        </p:nvSpPr>
        <p:spPr>
          <a:xfrm>
            <a:off x="7726680" y="265176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aplicado: Platt scaling sobre el score base.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366674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8"/>
          <p:cNvSpPr/>
          <p:nvPr/>
        </p:nvSpPr>
        <p:spPr>
          <a:xfrm>
            <a:off x="7726680" y="352044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10 deciles caen dentro del intervalo de Vasicek (95%, ρ Basel retail) — calibración validada estadísticamente, no solo visualmente.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498080" y="453542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0"/>
          <p:cNvSpPr/>
          <p:nvPr/>
        </p:nvSpPr>
        <p:spPr>
          <a:xfrm>
            <a:off x="7726680" y="438912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decil de mayor riesgo (D10) es el más sensible: revisar aquí ante recalibraciones futuras.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498080" y="54041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5" name="Text 12"/>
          <p:cNvSpPr/>
          <p:nvPr/>
        </p:nvSpPr>
        <p:spPr>
          <a:xfrm>
            <a:off x="7726680" y="525780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 uso directo del score para pricing basado en riesgo y cálculo de provisiones (PD × LGD × EAD).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Estabilidad de la métrica en el tiempo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Gini no es un número fijo: se monitorea mes a mes para detectar degradación temprana del modelo.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920240"/>
          <a:ext cx="110642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235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alerta: caída del Gini &gt; 10% respecto a la línea base → dispara revisión / recalibración del modelo.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entre el desempeño esperado (al momento del diseño) y el observado en un periodo posterior fuera de muestra.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57400"/>
          <a:ext cx="62179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040880" y="2057400"/>
            <a:ext cx="45720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315200" y="2286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 de estabilidad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por variable (rango)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0" y="31272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0.0000–0.0004 (10 variables, sin drift)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0" y="3657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mensual (rango)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0" y="3950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0.66–0.71 (12 periodos, ranking estable)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0" y="4480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PD media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0" y="4773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 p.p. (bad rate ~11.1% vs. PD predicha ~6.7%)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315200" y="5303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0" y="55961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drift de features y ranking (Gini) estable, pero la PD promedio predicha subestima la mora observada en ~4.4 p.p. de forma consistente — se recomienda recalibrar el modelo.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-2743200" y="24688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Text 2"/>
          <p:cNvSpPr/>
          <p:nvPr/>
        </p:nvSpPr>
        <p:spPr>
          <a:xfrm>
            <a:off x="1097280" y="2651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DE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30175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 de Negocio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972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significa el modelo en decisiones y en resultados económicos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score a decisión: bandas y cutoffs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Bajo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≥ 700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&lt; 2%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2296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822960" y="3749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 automática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173736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3" name="Shape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4" name="Text 12"/>
          <p:cNvSpPr/>
          <p:nvPr/>
        </p:nvSpPr>
        <p:spPr>
          <a:xfrm>
            <a:off x="4617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5780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Medio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1772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620 – 699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1772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2% – 8%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61772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9" name="Text 17"/>
          <p:cNvSpPr/>
          <p:nvPr/>
        </p:nvSpPr>
        <p:spPr>
          <a:xfrm>
            <a:off x="4617720" y="3749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/ condiciones ajustadas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138160" y="173736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1" name="Shape 19"/>
          <p:cNvSpPr/>
          <p:nvPr/>
        </p:nvSpPr>
        <p:spPr>
          <a:xfrm>
            <a:off x="8412480" y="1965960"/>
            <a:ext cx="457200" cy="457200"/>
          </a:xfrm>
          <a:prstGeom prst="ellipse">
            <a:avLst/>
          </a:prstGeom>
          <a:solidFill>
            <a:srgbClr val="B84C4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2" name="Text 20"/>
          <p:cNvSpPr/>
          <p:nvPr/>
        </p:nvSpPr>
        <p:spPr>
          <a:xfrm>
            <a:off x="84124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5256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Alto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41248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620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1248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8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&gt; 8%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841248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7" name="Text 25"/>
          <p:cNvSpPr/>
          <p:nvPr/>
        </p:nvSpPr>
        <p:spPr>
          <a:xfrm>
            <a:off x="8412480" y="37490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Rechazo o garantías adicionales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cutoff óptimo se define junto con negocio, balanceando tasa de aprobación vs. mora esperada (ver simulación de escenarios).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clave, en lenguaje de negocio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lectura del SHAP, sin jerga técnica — lista para un comité de riesgos.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6" name="Shape 4"/>
          <p:cNvSpPr/>
          <p:nvPr/>
        </p:nvSpPr>
        <p:spPr>
          <a:xfrm>
            <a:off x="777240" y="218541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5"/>
          <p:cNvSpPr/>
          <p:nvPr/>
        </p:nvSpPr>
        <p:spPr>
          <a:xfrm>
            <a:off x="777240" y="2185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 la línea de crédito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63440" y="205740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que usan casi todo su cupo disponible incumplen con más frecuencia — es la señal más fuerte del modelo.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1" name="Shape 9"/>
          <p:cNvSpPr/>
          <p:nvPr/>
        </p:nvSpPr>
        <p:spPr>
          <a:xfrm>
            <a:off x="777240" y="323697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2" name="Text 10"/>
          <p:cNvSpPr/>
          <p:nvPr/>
        </p:nvSpPr>
        <p:spPr>
          <a:xfrm>
            <a:off x="777240" y="3236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Atrasos recientes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63440" y="31089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o más atrasos de 60+ días en el historial reciente multiplica el riesgo de default.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6" name="Shape 14"/>
          <p:cNvSpPr/>
          <p:nvPr/>
        </p:nvSpPr>
        <p:spPr>
          <a:xfrm>
            <a:off x="777240" y="428853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7" name="Text 15"/>
          <p:cNvSpPr/>
          <p:nvPr/>
        </p:nvSpPr>
        <p:spPr>
          <a:xfrm>
            <a:off x="77724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63040" y="4160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 deuda vs. ingreso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663440" y="41605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mayor proporción del ingreso comprometida en deuda, mayor probabilidad de incumplimiento.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1" name="Shape 19"/>
          <p:cNvSpPr/>
          <p:nvPr/>
        </p:nvSpPr>
        <p:spPr>
          <a:xfrm>
            <a:off x="777240" y="534009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2" name="Text 20"/>
          <p:cNvSpPr/>
          <p:nvPr/>
        </p:nvSpPr>
        <p:spPr>
          <a:xfrm>
            <a:off x="777240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5212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Edad del cliente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663440" y="52120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segmentos más jóvenes muestran mayor riesgo relativo, probablemente por menor historial crediticio.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Impacto económico del modelo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+0.35 p.p.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estimada en ROA de la cartera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8" name="Text 6"/>
          <p:cNvSpPr/>
          <p:nvPr/>
        </p:nvSpPr>
        <p:spPr>
          <a:xfrm>
            <a:off x="434340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-18%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61772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pérdida esperada vs. política actual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813816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41248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buenos adicionales aprobados</a:t>
            </a:r>
            <a:endParaRPr lang="en-US" sz="120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548640" y="3703320"/>
          <a:ext cx="60350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1"/>
          <p:cNvSpPr/>
          <p:nvPr/>
        </p:nvSpPr>
        <p:spPr>
          <a:xfrm>
            <a:off x="6858000" y="3703320"/>
            <a:ext cx="4754880" cy="26060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5" name="Text 12"/>
          <p:cNvSpPr/>
          <p:nvPr/>
        </p:nvSpPr>
        <p:spPr>
          <a:xfrm>
            <a:off x="7132320" y="3886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del cálculo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132320" y="4251960"/>
            <a:ext cx="4206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por intereses y comisiones, menos pérdida esperada (PD × LGD × EAD) y costo de capital, sobre el total de activos de la cartera simulada bajo el nuevo cutoff.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Simulación de escenarios de cutoff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trade-off central para negocio: aprobación vs. mora esperada vs. ROA, según dónde se fije el cutoff.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219456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Cutoff (score)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 de aprobación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 esperada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 estimado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Conservador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Agresivo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348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Shape 4"/>
          <p:cNvSpPr/>
          <p:nvPr/>
        </p:nvSpPr>
        <p:spPr>
          <a:xfrm>
            <a:off x="868680" y="470916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8" name="Text 5"/>
          <p:cNvSpPr/>
          <p:nvPr/>
        </p:nvSpPr>
        <p:spPr>
          <a:xfrm>
            <a:off x="86868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40" dirty="0"/>
          </a:p>
        </p:txBody>
      </p:sp>
      <p:sp>
        <p:nvSpPr>
          <p:cNvPr id="9" name="Text 6"/>
          <p:cNvSpPr/>
          <p:nvPr/>
        </p:nvSpPr>
        <p:spPr>
          <a:xfrm>
            <a:off x="1554480" y="4617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Recomendación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554480" y="4956048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escenario 'Recomendado' (cutoff 635) maximiza el ROA de cartera: un cutoff más agresivo aprueba más volumen pero la mora adicional erosiona la rentabilidad marginal.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Recomendaciones e implementación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Shape 3"/>
          <p:cNvSpPr/>
          <p:nvPr/>
        </p:nvSpPr>
        <p:spPr>
          <a:xfrm>
            <a:off x="822960" y="1993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6" name="Text 4"/>
          <p:cNvSpPr/>
          <p:nvPr/>
        </p:nvSpPr>
        <p:spPr>
          <a:xfrm>
            <a:off x="822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Cutoff operativo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Adoptar el escenario recomendado (score 635) como política inicial, con revisión a 90 días.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0" name="Shape 8"/>
          <p:cNvSpPr/>
          <p:nvPr/>
        </p:nvSpPr>
        <p:spPr>
          <a:xfrm>
            <a:off x="6519672" y="1993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651967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59752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Monitoreo continuo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19672" y="256032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mensual de Gini, PSI y tasa de default observada vs. esperada por banda.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5" name="Shape 13"/>
          <p:cNvSpPr/>
          <p:nvPr/>
        </p:nvSpPr>
        <p:spPr>
          <a:xfrm>
            <a:off x="822960" y="4325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6" name="Text 14"/>
          <p:cNvSpPr/>
          <p:nvPr/>
        </p:nvSpPr>
        <p:spPr>
          <a:xfrm>
            <a:off x="822960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Gobernanza del modelo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89204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dueño del modelo, comité de validación y umbral de alerta para recalibración.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45352" y="40690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" name="Shape 18"/>
          <p:cNvSpPr/>
          <p:nvPr/>
        </p:nvSpPr>
        <p:spPr>
          <a:xfrm>
            <a:off x="6519672" y="4325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" name="Text 19"/>
          <p:cNvSpPr/>
          <p:nvPr/>
        </p:nvSpPr>
        <p:spPr>
          <a:xfrm>
            <a:off x="6519672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59752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reentrenamiento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19672" y="489204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Reentrenar cuando el Gini caiga &gt;10% de la línea base o cada 12-18 meses, lo que ocurra primero.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82880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TÉCNICO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 AUC 0.84-0.86, calibrado, estable en el tiempo (Gini sin degradación estructural) y explicable a nivel individual mediante SHAP.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45352" y="182880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7"/>
          <p:cNvSpPr/>
          <p:nvPr/>
        </p:nvSpPr>
        <p:spPr>
          <a:xfrm>
            <a:off x="6565392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NEGOCIO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65392" y="24231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cutoff recomendado, el ROA de cartera mejora en +0.35 p.p. y la pérdida esperada cae 18% frente a la política vigente.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212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modelo que no solo predice mejor, sino que se puede explicar, calibrar, monitorear y traducir directamente en resultado financiero.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182880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Anexos técnicos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respaldo para preguntas del panel — no forma parte de la narrativa principal.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76" dirty="0"/>
          </a:p>
        </p:txBody>
      </p:sp>
      <p:sp>
        <p:nvSpPr>
          <p:cNvPr id="8" name="Text 6"/>
          <p:cNvSpPr/>
          <p:nvPr/>
        </p:nvSpPr>
        <p:spPr>
          <a:xfrm>
            <a:off x="1143000" y="2075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Hiperparámetros finales del modelo y proceso de tuning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" name="Text 8"/>
          <p:cNvSpPr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76" dirty="0"/>
          </a:p>
        </p:txBody>
      </p:sp>
      <p:sp>
        <p:nvSpPr>
          <p:cNvPr id="11" name="Text 9"/>
          <p:cNvSpPr/>
          <p:nvPr/>
        </p:nvSpPr>
        <p:spPr>
          <a:xfrm>
            <a:off x="1143000" y="273405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confusión y métricas por punto de corte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37413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1"/>
          <p:cNvSpPr/>
          <p:nvPr/>
        </p:nvSpPr>
        <p:spPr>
          <a:xfrm>
            <a:off x="54864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76" dirty="0"/>
          </a:p>
        </p:txBody>
      </p:sp>
      <p:sp>
        <p:nvSpPr>
          <p:cNvPr id="14" name="Text 12"/>
          <p:cNvSpPr/>
          <p:nvPr/>
        </p:nvSpPr>
        <p:spPr>
          <a:xfrm>
            <a:off x="1143000" y="339242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tratamiento de missing values y outliers por variable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032504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6" name="Text 14"/>
          <p:cNvSpPr/>
          <p:nvPr/>
        </p:nvSpPr>
        <p:spPr>
          <a:xfrm>
            <a:off x="548640" y="4032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76" dirty="0"/>
          </a:p>
        </p:txBody>
      </p:sp>
      <p:sp>
        <p:nvSpPr>
          <p:cNvPr id="17" name="Text 15"/>
          <p:cNvSpPr/>
          <p:nvPr/>
        </p:nvSpPr>
        <p:spPr>
          <a:xfrm>
            <a:off x="1143000" y="405079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y notebook de referencia (repositorio)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690872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9" name="Text 17"/>
          <p:cNvSpPr/>
          <p:nvPr/>
        </p:nvSpPr>
        <p:spPr>
          <a:xfrm>
            <a:off x="54864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76" dirty="0"/>
          </a:p>
        </p:txBody>
      </p:sp>
      <p:sp>
        <p:nvSpPr>
          <p:cNvPr id="20" name="Text 18"/>
          <p:cNvSpPr/>
          <p:nvPr/>
        </p:nvSpPr>
        <p:spPr>
          <a:xfrm>
            <a:off x="1143000" y="47091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Definiciones completas de WOE / IV por variable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2" name="Text 20"/>
          <p:cNvSpPr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76" dirty="0"/>
          </a:p>
        </p:txBody>
      </p:sp>
      <p:sp>
        <p:nvSpPr>
          <p:cNvPr id="23" name="Text 21"/>
          <p:cNvSpPr/>
          <p:nvPr/>
        </p:nvSpPr>
        <p:spPr>
          <a:xfrm>
            <a:off x="1143000" y="536752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la simulación económica (supuestos de LGD y EAD)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1658</Words>
  <Application>Microsoft Macintosh PowerPoint</Application>
  <PresentationFormat>Widescreen</PresentationFormat>
  <Paragraphs>313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Office</cp:lastModifiedBy>
  <cp:revision>2</cp:revision>
  <dcterms:created xsi:type="dcterms:W3CDTF">2026-08-20T21:18:28Z</dcterms:created>
  <dcterms:modified xsi:type="dcterms:W3CDTF">2026-08-26T17:13:56Z</dcterms:modified>
</cp:coreProperties>
</file>