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2" r:id="rId6"/>
    <p:sldId id="277" r:id="rId7"/>
    <p:sldId id="263" r:id="rId8"/>
    <p:sldId id="278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92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Comparación de modelos — AUC (cross-validation)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(CV)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LightGBM</c:v>
                </c:pt>
                <c:pt idx="1">
                  <c:v>CatBoost</c:v>
                </c:pt>
                <c:pt idx="2">
                  <c:v>XGBoost</c:v>
                </c:pt>
                <c:pt idx="3">
                  <c:v>RandomForest</c:v>
                </c:pt>
                <c:pt idx="4">
                  <c:v>LogisticRegression</c:v>
                </c:pt>
                <c:pt idx="5">
                  <c:v>DecisionTree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0.86499999999999999</c:v>
                </c:pt>
                <c:pt idx="1">
                  <c:v>0.86399999999999999</c:v>
                </c:pt>
                <c:pt idx="2">
                  <c:v>0.85599999999999998</c:v>
                </c:pt>
                <c:pt idx="3">
                  <c:v>0.84</c:v>
                </c:pt>
                <c:pt idx="4">
                  <c:v>0.82499999999999996</c:v>
                </c:pt>
                <c:pt idx="5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E-9547-9037-C4444C194B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Importancia de variables (SHAP – valor absoluto medio)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medio |SHAP|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Utilización línea de crédito</c:v>
                </c:pt>
                <c:pt idx="1">
                  <c:v>N° atrasos 30-59 días</c:v>
                </c:pt>
                <c:pt idx="2">
                  <c:v>N° atrasos 90+ días</c:v>
                </c:pt>
                <c:pt idx="3">
                  <c:v>N° atrasos 60-89 días</c:v>
                </c:pt>
                <c:pt idx="4">
                  <c:v>Edad</c:v>
                </c:pt>
                <c:pt idx="5">
                  <c:v>Ratio deuda / ingreso</c:v>
                </c:pt>
              </c:strCache>
            </c:strRef>
          </c:cat>
          <c:val>
            <c:numRef>
              <c:f>Sheet1!$B$2:$B$7</c:f>
              <c:numCache>
                <c:formatCode>0.0000</c:formatCode>
                <c:ptCount val="6"/>
                <c:pt idx="0">
                  <c:v>2.7799999999999998E-2</c:v>
                </c:pt>
                <c:pt idx="1">
                  <c:v>1.83E-2</c:v>
                </c:pt>
                <c:pt idx="2">
                  <c:v>1.78E-2</c:v>
                </c:pt>
                <c:pt idx="3">
                  <c:v>1.24E-2</c:v>
                </c:pt>
                <c:pt idx="4">
                  <c:v>7.9000000000000008E-3</c:v>
                </c:pt>
                <c:pt idx="5">
                  <c:v>6.3E-3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E-9547-9037-C4444C194B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−1.30pp</c:v>
                </c:pt>
                <c:pt idx="2">
                  <c:v>Edad −0.59pp</c:v>
                </c:pt>
                <c:pt idx="3">
                  <c:v>Ratio deuda −0.22pp</c:v>
                </c:pt>
                <c:pt idx="4">
                  <c:v>Otras −0.24pp</c:v>
                </c:pt>
                <c:pt idx="5">
                  <c:v>Final 0.60%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1.6473000000000002</c:v>
                </c:pt>
                <c:pt idx="2">
                  <c:v>1.0582000000000003</c:v>
                </c:pt>
                <c:pt idx="3">
                  <c:v>0.83820000000000028</c:v>
                </c:pt>
                <c:pt idx="4">
                  <c:v>0.59990000000000032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C-9F42-82A8-EC232B8443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21C-9F42-82A8-EC232B8443D1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21C-9F42-82A8-EC232B8443D1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21C-9F42-82A8-EC232B8443D1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21C-9F42-82A8-EC232B8443D1}"/>
              </c:ext>
            </c:extLst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821C-9F42-82A8-EC232B8443D1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821C-9F42-82A8-EC232B8443D1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−1.30pp</c:v>
                </c:pt>
                <c:pt idx="2">
                  <c:v>Edad −0.59pp</c:v>
                </c:pt>
                <c:pt idx="3">
                  <c:v>Ratio deuda −0.22pp</c:v>
                </c:pt>
                <c:pt idx="4">
                  <c:v>Otras −0.24pp</c:v>
                </c:pt>
                <c:pt idx="5">
                  <c:v>Final 0.60%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1.3049999999999999</c:v>
                </c:pt>
                <c:pt idx="2">
                  <c:v>0.58909999999999996</c:v>
                </c:pt>
                <c:pt idx="3">
                  <c:v>0.22</c:v>
                </c:pt>
                <c:pt idx="4">
                  <c:v>0.23830000000000001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21C-9F42-82A8-EC232B844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80"/>
        <c:axId val="20947381"/>
      </c:barChart>
      <c:catAx>
        <c:axId val="209473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81"/>
        <c:crosses val="autoZero"/>
        <c:auto val="1"/>
        <c:lblAlgn val="ctr"/>
        <c:lblOffset val="100"/>
        <c:noMultiLvlLbl val="1"/>
      </c:catAx>
      <c:valAx>
        <c:axId val="2094738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8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Atraso 30-59d −0.46pp</c:v>
                </c:pt>
                <c:pt idx="2">
                  <c:v>Ingreso mensual +0.28pp</c:v>
                </c:pt>
                <c:pt idx="3">
                  <c:v>N° líneas −0.27pp</c:v>
                </c:pt>
                <c:pt idx="4">
                  <c:v>Otras −0.49pp</c:v>
                </c:pt>
                <c:pt idx="5">
                  <c:v>Final 2.00%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2.4881000000000002</c:v>
                </c:pt>
                <c:pt idx="2">
                  <c:v>2.4881000000000002</c:v>
                </c:pt>
                <c:pt idx="3">
                  <c:v>2.4891000000000001</c:v>
                </c:pt>
                <c:pt idx="4">
                  <c:v>2.0004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A-EE48-AB80-D277F25899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97A-EE48-AB80-D277F25899CF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97A-EE48-AB80-D277F25899CF}"/>
              </c:ext>
            </c:extLst>
          </c:dPt>
          <c:dPt>
            <c:idx val="2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497A-EE48-AB80-D277F25899CF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497A-EE48-AB80-D277F25899CF}"/>
              </c:ext>
            </c:extLst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497A-EE48-AB80-D277F25899CF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497A-EE48-AB80-D277F25899CF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Atraso 30-59d −0.46pp</c:v>
                </c:pt>
                <c:pt idx="2">
                  <c:v>Ingreso mensual +0.28pp</c:v>
                </c:pt>
                <c:pt idx="3">
                  <c:v>N° líneas −0.27pp</c:v>
                </c:pt>
                <c:pt idx="4">
                  <c:v>Otras −0.49pp</c:v>
                </c:pt>
                <c:pt idx="5">
                  <c:v>Final 2.00%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0.4642</c:v>
                </c:pt>
                <c:pt idx="2">
                  <c:v>0.27589999999999998</c:v>
                </c:pt>
                <c:pt idx="3">
                  <c:v>0.27489999999999998</c:v>
                </c:pt>
                <c:pt idx="4">
                  <c:v>0.48870000000000002</c:v>
                </c:pt>
                <c:pt idx="5">
                  <c:v>2.0003000000000002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97A-EE48-AB80-D277F2589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90"/>
        <c:axId val="20947391"/>
      </c:barChart>
      <c:catAx>
        <c:axId val="2094739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91"/>
        <c:crosses val="autoZero"/>
        <c:auto val="1"/>
        <c:lblAlgn val="ctr"/>
        <c:lblOffset val="100"/>
        <c:noMultiLvlLbl val="1"/>
      </c:catAx>
      <c:valAx>
        <c:axId val="2094739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9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+4.46pp</c:v>
                </c:pt>
                <c:pt idx="2">
                  <c:v>Ratio deuda +1.52pp</c:v>
                </c:pt>
                <c:pt idx="3">
                  <c:v>Atraso 30-59d −1.25pp</c:v>
                </c:pt>
                <c:pt idx="4">
                  <c:v>Otras +0.32pp</c:v>
                </c:pt>
                <c:pt idx="5">
                  <c:v>Final 8.00%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2.9523000000000001</c:v>
                </c:pt>
                <c:pt idx="2">
                  <c:v>7.4135</c:v>
                </c:pt>
                <c:pt idx="3">
                  <c:v>7.6846000000000005</c:v>
                </c:pt>
                <c:pt idx="4">
                  <c:v>7.6846000000000005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4-1D42-97F8-FD683733DD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0F4-1D42-97F8-FD683733DD7F}"/>
              </c:ext>
            </c:extLst>
          </c:dPt>
          <c:dPt>
            <c:idx val="1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0F4-1D42-97F8-FD683733DD7F}"/>
              </c:ext>
            </c:extLst>
          </c:dPt>
          <c:dPt>
            <c:idx val="2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0F4-1D42-97F8-FD683733DD7F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A0F4-1D42-97F8-FD683733DD7F}"/>
              </c:ext>
            </c:extLst>
          </c:dPt>
          <c:dPt>
            <c:idx val="4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A0F4-1D42-97F8-FD683733DD7F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A0F4-1D42-97F8-FD683733DD7F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+4.46pp</c:v>
                </c:pt>
                <c:pt idx="2">
                  <c:v>Ratio deuda +1.52pp</c:v>
                </c:pt>
                <c:pt idx="3">
                  <c:v>Atraso 30-59d −1.25pp</c:v>
                </c:pt>
                <c:pt idx="4">
                  <c:v>Otras +0.32pp</c:v>
                </c:pt>
                <c:pt idx="5">
                  <c:v>Final 8.00%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4.4611999999999998</c:v>
                </c:pt>
                <c:pt idx="2">
                  <c:v>1.5223</c:v>
                </c:pt>
                <c:pt idx="3">
                  <c:v>1.2512000000000001</c:v>
                </c:pt>
                <c:pt idx="4">
                  <c:v>0.31530000000000002</c:v>
                </c:pt>
                <c:pt idx="5">
                  <c:v>7.9999000000000002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0F4-1D42-97F8-FD683733D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100"/>
        <c:axId val="209473101"/>
      </c:barChart>
      <c:catAx>
        <c:axId val="209473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101"/>
        <c:crosses val="autoZero"/>
        <c:auto val="1"/>
        <c:lblAlgn val="ctr"/>
        <c:lblOffset val="100"/>
        <c:noMultiLvlLbl val="1"/>
      </c:catAx>
      <c:valAx>
        <c:axId val="20947310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10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Curva ROC (split de validación) — AUC = 0.8667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</c:f>
              <c:numCache>
                <c:formatCode>0.0000</c:formatCode>
                <c:ptCount val="12"/>
                <c:pt idx="0">
                  <c:v>0</c:v>
                </c:pt>
                <c:pt idx="1">
                  <c:v>7.7000000000000002E-3</c:v>
                </c:pt>
                <c:pt idx="2">
                  <c:v>1.8599999999999998E-2</c:v>
                </c:pt>
                <c:pt idx="3">
                  <c:v>3.3300000000000003E-2</c:v>
                </c:pt>
                <c:pt idx="4">
                  <c:v>5.28E-2</c:v>
                </c:pt>
                <c:pt idx="5">
                  <c:v>7.6399999999999996E-2</c:v>
                </c:pt>
                <c:pt idx="6">
                  <c:v>0.113</c:v>
                </c:pt>
                <c:pt idx="7">
                  <c:v>0.1653</c:v>
                </c:pt>
                <c:pt idx="8">
                  <c:v>0.23530000000000001</c:v>
                </c:pt>
                <c:pt idx="9">
                  <c:v>0.34389999999999998</c:v>
                </c:pt>
                <c:pt idx="10">
                  <c:v>0.53800000000000003</c:v>
                </c:pt>
                <c:pt idx="11">
                  <c:v>1</c:v>
                </c:pt>
              </c:numCache>
            </c:numRef>
          </c:xVal>
          <c:yVal>
            <c:numRef>
              <c:f>Sheet1!$B$2:$B$13</c:f>
              <c:numCache>
                <c:formatCode>0.0000</c:formatCode>
                <c:ptCount val="12"/>
                <c:pt idx="0">
                  <c:v>0</c:v>
                </c:pt>
                <c:pt idx="1">
                  <c:v>0.1759</c:v>
                </c:pt>
                <c:pt idx="2">
                  <c:v>0.29849999999999999</c:v>
                </c:pt>
                <c:pt idx="3">
                  <c:v>0.41120000000000001</c:v>
                </c:pt>
                <c:pt idx="4">
                  <c:v>0.50129999999999997</c:v>
                </c:pt>
                <c:pt idx="5">
                  <c:v>0.58679999999999999</c:v>
                </c:pt>
                <c:pt idx="6">
                  <c:v>0.66190000000000004</c:v>
                </c:pt>
                <c:pt idx="7">
                  <c:v>0.73499999999999999</c:v>
                </c:pt>
                <c:pt idx="8">
                  <c:v>0.8075</c:v>
                </c:pt>
                <c:pt idx="9">
                  <c:v>0.87729999999999997</c:v>
                </c:pt>
                <c:pt idx="10">
                  <c:v>0.94710000000000005</c:v>
                </c:pt>
                <c:pt idx="1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D59-1E41-82CF-24443088A5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ln w="38100" cap="flat">
              <a:solidFill>
                <a:srgbClr val="B9C2D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D59-1E41-82CF-24443088A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Gini mensual — cosecha de monitoreo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mensual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2025-07</c:v>
                </c:pt>
                <c:pt idx="1">
                  <c:v>2025-08</c:v>
                </c:pt>
                <c:pt idx="2">
                  <c:v>2025-09</c:v>
                </c:pt>
                <c:pt idx="3">
                  <c:v>2025-10</c:v>
                </c:pt>
                <c:pt idx="4">
                  <c:v>2025-11</c:v>
                </c:pt>
                <c:pt idx="5">
                  <c:v>2025-12</c:v>
                </c:pt>
                <c:pt idx="6">
                  <c:v>2026-01</c:v>
                </c:pt>
                <c:pt idx="7">
                  <c:v>2026-02</c:v>
                </c:pt>
                <c:pt idx="8">
                  <c:v>2026-03</c:v>
                </c:pt>
                <c:pt idx="9">
                  <c:v>2026-04</c:v>
                </c:pt>
                <c:pt idx="10">
                  <c:v>2026-05</c:v>
                </c:pt>
                <c:pt idx="11">
                  <c:v>2026-06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0.7</c:v>
                </c:pt>
                <c:pt idx="1">
                  <c:v>0.7</c:v>
                </c:pt>
                <c:pt idx="2">
                  <c:v>0.69</c:v>
                </c:pt>
                <c:pt idx="3">
                  <c:v>0.68</c:v>
                </c:pt>
                <c:pt idx="4">
                  <c:v>0.69</c:v>
                </c:pt>
                <c:pt idx="5">
                  <c:v>0.67</c:v>
                </c:pt>
                <c:pt idx="6">
                  <c:v>0.67</c:v>
                </c:pt>
                <c:pt idx="7">
                  <c:v>0.7</c:v>
                </c:pt>
                <c:pt idx="8">
                  <c:v>0.68</c:v>
                </c:pt>
                <c:pt idx="9">
                  <c:v>0.66</c:v>
                </c:pt>
                <c:pt idx="10">
                  <c:v>0.7</c:v>
                </c:pt>
                <c:pt idx="11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0A-C246-8CA2-28229C67767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Bad rate observado vs. PD promedio predicha — por periodo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rate observado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Baseline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</c:strCache>
            </c:strRef>
          </c:cat>
          <c:val>
            <c:numRef>
              <c:f>Sheet1!$B$2:$B$14</c:f>
              <c:numCache>
                <c:formatCode>0.00</c:formatCode>
                <c:ptCount val="13"/>
                <c:pt idx="0">
                  <c:v>6.68</c:v>
                </c:pt>
                <c:pt idx="1">
                  <c:v>11.32</c:v>
                </c:pt>
                <c:pt idx="2">
                  <c:v>10.6</c:v>
                </c:pt>
                <c:pt idx="3">
                  <c:v>11.29</c:v>
                </c:pt>
                <c:pt idx="4">
                  <c:v>10.86</c:v>
                </c:pt>
                <c:pt idx="5">
                  <c:v>10.92</c:v>
                </c:pt>
                <c:pt idx="6">
                  <c:v>10.88</c:v>
                </c:pt>
                <c:pt idx="7">
                  <c:v>11.66</c:v>
                </c:pt>
                <c:pt idx="8">
                  <c:v>11.19</c:v>
                </c:pt>
                <c:pt idx="9">
                  <c:v>11.16</c:v>
                </c:pt>
                <c:pt idx="10">
                  <c:v>11.05</c:v>
                </c:pt>
                <c:pt idx="11">
                  <c:v>11.28</c:v>
                </c:pt>
                <c:pt idx="12">
                  <c:v>11.03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41-624F-AA10-B2B78BA50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PD promedio predicha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Baseline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</c:strCache>
            </c:strRef>
          </c:cat>
          <c:val>
            <c:numRef>
              <c:f>Sheet1!$C$2:$C$14</c:f>
              <c:numCache>
                <c:formatCode>0.00</c:formatCode>
                <c:ptCount val="13"/>
                <c:pt idx="0">
                  <c:v>6.66</c:v>
                </c:pt>
                <c:pt idx="1">
                  <c:v>6.71</c:v>
                </c:pt>
                <c:pt idx="2">
                  <c:v>6.84</c:v>
                </c:pt>
                <c:pt idx="3">
                  <c:v>6.74</c:v>
                </c:pt>
                <c:pt idx="4">
                  <c:v>6.47</c:v>
                </c:pt>
                <c:pt idx="5">
                  <c:v>6.69</c:v>
                </c:pt>
                <c:pt idx="6">
                  <c:v>6.59</c:v>
                </c:pt>
                <c:pt idx="7">
                  <c:v>6.8</c:v>
                </c:pt>
                <c:pt idx="8">
                  <c:v>6.72</c:v>
                </c:pt>
                <c:pt idx="9">
                  <c:v>6.55</c:v>
                </c:pt>
                <c:pt idx="10">
                  <c:v>6.63</c:v>
                </c:pt>
                <c:pt idx="11">
                  <c:v>6.72</c:v>
                </c:pt>
                <c:pt idx="12">
                  <c:v>6.74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41-624F-AA10-B2B78BA50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150" b="0" i="0" u="none" strike="noStrike">
                <a:solidFill>
                  <a:srgbClr val="1E2761"/>
                </a:solidFill>
                <a:latin typeface="Calibri"/>
              </a:rPr>
              <a:t>Tasa de default: observada vs. predicha ± IC Vasicek 95% (por decil)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Sheet1!$D$2:$D$11</c:f>
              <c:numCache>
                <c:formatCode>0.00</c:formatCode>
                <c:ptCount val="10"/>
                <c:pt idx="0">
                  <c:v>0.01</c:v>
                </c:pt>
                <c:pt idx="1">
                  <c:v>0.02</c:v>
                </c:pt>
                <c:pt idx="2">
                  <c:v>0.04</c:v>
                </c:pt>
                <c:pt idx="3">
                  <c:v>0.13</c:v>
                </c:pt>
                <c:pt idx="4">
                  <c:v>0.2</c:v>
                </c:pt>
                <c:pt idx="5">
                  <c:v>0.46</c:v>
                </c:pt>
                <c:pt idx="6">
                  <c:v>1</c:v>
                </c:pt>
                <c:pt idx="7">
                  <c:v>2.52</c:v>
                </c:pt>
                <c:pt idx="8">
                  <c:v>5.75</c:v>
                </c:pt>
                <c:pt idx="9">
                  <c:v>25.02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BD-CD44-AAC4-FF1AFCA2B47B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Intervalo Vasicek (95%)</c:v>
                </c:pt>
              </c:strCache>
            </c:strRef>
          </c:tx>
          <c:spPr>
            <a:solidFill>
              <a:srgbClr val="6FA8DC">
                <a:alpha val="28000"/>
              </a:srgbClr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Sheet1!$E$2:$E$11</c:f>
              <c:numCache>
                <c:formatCode>0.00</c:formatCode>
                <c:ptCount val="10"/>
                <c:pt idx="0">
                  <c:v>1.85</c:v>
                </c:pt>
                <c:pt idx="1">
                  <c:v>2.6</c:v>
                </c:pt>
                <c:pt idx="2">
                  <c:v>3.33</c:v>
                </c:pt>
                <c:pt idx="3">
                  <c:v>4.91</c:v>
                </c:pt>
                <c:pt idx="4">
                  <c:v>5.61</c:v>
                </c:pt>
                <c:pt idx="5">
                  <c:v>7.09</c:v>
                </c:pt>
                <c:pt idx="6">
                  <c:v>8.5</c:v>
                </c:pt>
                <c:pt idx="7">
                  <c:v>10.49</c:v>
                </c:pt>
                <c:pt idx="8">
                  <c:v>13.73</c:v>
                </c:pt>
                <c:pt idx="9">
                  <c:v>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BD-CD44-AAC4-FF1AFCA2B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Observado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0.59</c:v>
                </c:pt>
                <c:pt idx="1">
                  <c:v>0.83</c:v>
                </c:pt>
                <c:pt idx="2">
                  <c:v>1.07</c:v>
                </c:pt>
                <c:pt idx="3">
                  <c:v>1.37</c:v>
                </c:pt>
                <c:pt idx="4">
                  <c:v>1.78</c:v>
                </c:pt>
                <c:pt idx="5">
                  <c:v>2.5299999999999998</c:v>
                </c:pt>
                <c:pt idx="6">
                  <c:v>3.96</c:v>
                </c:pt>
                <c:pt idx="7">
                  <c:v>6.42</c:v>
                </c:pt>
                <c:pt idx="8">
                  <c:v>11.31</c:v>
                </c:pt>
                <c:pt idx="9">
                  <c:v>36.450000000000003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6E-4A46-8442-DB900D048546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Predicho (calibrado)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0.00</c:formatCode>
                <c:ptCount val="10"/>
                <c:pt idx="0">
                  <c:v>0.38</c:v>
                </c:pt>
                <c:pt idx="1">
                  <c:v>0.57999999999999996</c:v>
                </c:pt>
                <c:pt idx="2">
                  <c:v>0.8</c:v>
                </c:pt>
                <c:pt idx="3">
                  <c:v>1.4</c:v>
                </c:pt>
                <c:pt idx="4">
                  <c:v>1.73</c:v>
                </c:pt>
                <c:pt idx="5">
                  <c:v>2.64</c:v>
                </c:pt>
                <c:pt idx="6">
                  <c:v>3.91</c:v>
                </c:pt>
                <c:pt idx="7">
                  <c:v>6.58</c:v>
                </c:pt>
                <c:pt idx="8">
                  <c:v>11.53</c:v>
                </c:pt>
                <c:pt idx="9">
                  <c:v>37.29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6E-4A46-8442-DB900D048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% Default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ROA real por banda de riesgo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9C-984A-B354-1F20B3A978FB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9C-984A-B354-1F20B3A978FB}"/>
              </c:ext>
            </c:extLst>
          </c:dPt>
          <c:dPt>
            <c:idx val="2"/>
            <c:invertIfNegative val="0"/>
            <c:bubble3D val="0"/>
            <c:spPr>
              <a:solidFill>
                <a:srgbClr val="D97C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9C-984A-B354-1F20B3A978FB}"/>
              </c:ext>
            </c:extLst>
          </c:dPt>
          <c:dPt>
            <c:idx val="3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9C-984A-B354-1F20B3A978F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Bajo Riesgo</c:v>
                </c:pt>
                <c:pt idx="1">
                  <c:v>Medio Riesgo</c:v>
                </c:pt>
                <c:pt idx="2">
                  <c:v>Alto Riesgo</c:v>
                </c:pt>
                <c:pt idx="3">
                  <c:v>Muy Alto Riesgo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4.7</c:v>
                </c:pt>
                <c:pt idx="1">
                  <c:v>7.4</c:v>
                </c:pt>
                <c:pt idx="2">
                  <c:v>12.9</c:v>
                </c:pt>
                <c:pt idx="3">
                  <c:v>-3.9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37-A447-90E3-585773E07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23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0B65-1B88-8D12-BCFD-14F1D001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2F99E-F23F-4A01-0AAB-5BA8FC29D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F11C4-A63D-C4FC-6A61-7A58A294B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2126-37E6-8DF6-059F-6ED7C5CAE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E0BA-8132-575C-CA54-973427FE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AD2A6-49C9-9BDF-2954-155449733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7B727-9092-A8CC-C042-11D660B8D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73AA-EE0A-3A6F-E2E7-7354F4E0A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2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Shape 2"/>
          <p:cNvSpPr/>
          <p:nvPr/>
        </p:nvSpPr>
        <p:spPr>
          <a:xfrm>
            <a:off x="10332720" y="4389120"/>
            <a:ext cx="3657600" cy="3657600"/>
          </a:xfrm>
          <a:prstGeom prst="ellipse">
            <a:avLst/>
          </a:prstGeom>
          <a:solidFill>
            <a:srgbClr val="232A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MACHINE LEARNING · RIESGO DE CRÉDITO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Credit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Scoring de Riesgo Crediticio — De los datos a la decisión de negocio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Rodriguez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joeldavidrodriguez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bloques, una sola historia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presenta en dos partes: primero la construcción y validación técnica del modelo, luego su traducción en decisiones e impacto para el negocio.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96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objetivo y filtros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216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1"/>
          <p:cNvSpPr/>
          <p:nvPr/>
        </p:nvSpPr>
        <p:spPr>
          <a:xfrm>
            <a:off x="86868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96" dirty="0"/>
          </a:p>
        </p:txBody>
      </p:sp>
      <p:sp>
        <p:nvSpPr>
          <p:cNvPr id="14" name="Text 12"/>
          <p:cNvSpPr/>
          <p:nvPr/>
        </p:nvSpPr>
        <p:spPr>
          <a:xfrm>
            <a:off x="13258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288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8686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96" dirty="0"/>
          </a:p>
        </p:txBody>
      </p:sp>
      <p:sp>
        <p:nvSpPr>
          <p:cNvPr id="17" name="Text 15"/>
          <p:cNvSpPr/>
          <p:nvPr/>
        </p:nvSpPr>
        <p:spPr>
          <a:xfrm>
            <a:off x="132588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 interpretabilidad (SHAP)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85546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9" name="Text 17"/>
          <p:cNvSpPr/>
          <p:nvPr/>
        </p:nvSpPr>
        <p:spPr>
          <a:xfrm>
            <a:off x="86868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96" dirty="0"/>
          </a:p>
        </p:txBody>
      </p:sp>
      <p:sp>
        <p:nvSpPr>
          <p:cNvPr id="20" name="Text 18"/>
          <p:cNvSpPr/>
          <p:nvPr/>
        </p:nvSpPr>
        <p:spPr>
          <a:xfrm>
            <a:off x="1325880" y="48371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calibración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42239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868680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96" dirty="0"/>
          </a:p>
        </p:txBody>
      </p:sp>
      <p:sp>
        <p:nvSpPr>
          <p:cNvPr id="23" name="Text 21"/>
          <p:cNvSpPr/>
          <p:nvPr/>
        </p:nvSpPr>
        <p:spPr>
          <a:xfrm>
            <a:off x="1325880" y="5404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(Gini mensual) y backtest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5" name="Shape 23"/>
          <p:cNvSpPr/>
          <p:nvPr/>
        </p:nvSpPr>
        <p:spPr>
          <a:xfrm>
            <a:off x="6263640" y="2103120"/>
            <a:ext cx="5394960" cy="8229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6" name="Text 24"/>
          <p:cNvSpPr/>
          <p:nvPr/>
        </p:nvSpPr>
        <p:spPr>
          <a:xfrm>
            <a:off x="658368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450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31546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9" name="Text 27"/>
          <p:cNvSpPr/>
          <p:nvPr/>
        </p:nvSpPr>
        <p:spPr>
          <a:xfrm>
            <a:off x="6583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96" dirty="0"/>
          </a:p>
        </p:txBody>
      </p:sp>
      <p:sp>
        <p:nvSpPr>
          <p:cNvPr id="30" name="Text 28"/>
          <p:cNvSpPr/>
          <p:nvPr/>
        </p:nvSpPr>
        <p:spPr>
          <a:xfrm>
            <a:off x="704088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score a política de decisión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721608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2" name="Text 30"/>
          <p:cNvSpPr/>
          <p:nvPr/>
        </p:nvSpPr>
        <p:spPr>
          <a:xfrm>
            <a:off x="658368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96" dirty="0"/>
          </a:p>
        </p:txBody>
      </p:sp>
      <p:sp>
        <p:nvSpPr>
          <p:cNvPr id="33" name="Text 31"/>
          <p:cNvSpPr/>
          <p:nvPr/>
        </p:nvSpPr>
        <p:spPr>
          <a:xfrm>
            <a:off x="70408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en lenguaje de negocio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4288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5" name="Text 33"/>
          <p:cNvSpPr/>
          <p:nvPr/>
        </p:nvSpPr>
        <p:spPr>
          <a:xfrm>
            <a:off x="65836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96" dirty="0"/>
          </a:p>
        </p:txBody>
      </p:sp>
      <p:sp>
        <p:nvSpPr>
          <p:cNvPr id="36" name="Text 34"/>
          <p:cNvSpPr/>
          <p:nvPr/>
        </p:nvSpPr>
        <p:spPr>
          <a:xfrm>
            <a:off x="704088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 (ROA)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4855464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8" name="Text 36"/>
          <p:cNvSpPr/>
          <p:nvPr/>
        </p:nvSpPr>
        <p:spPr>
          <a:xfrm>
            <a:off x="658368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96" dirty="0"/>
          </a:p>
        </p:txBody>
      </p:sp>
      <p:sp>
        <p:nvSpPr>
          <p:cNvPr id="39" name="Text 37"/>
          <p:cNvSpPr/>
          <p:nvPr/>
        </p:nvSpPr>
        <p:spPr>
          <a:xfrm>
            <a:off x="7040880" y="48371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escenarios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5422392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" name="Text 39"/>
          <p:cNvSpPr/>
          <p:nvPr/>
        </p:nvSpPr>
        <p:spPr>
          <a:xfrm>
            <a:off x="6583680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96" dirty="0"/>
          </a:p>
        </p:txBody>
      </p:sp>
      <p:sp>
        <p:nvSpPr>
          <p:cNvPr id="42" name="Text 40"/>
          <p:cNvSpPr/>
          <p:nvPr/>
        </p:nvSpPr>
        <p:spPr>
          <a:xfrm>
            <a:off x="7040880" y="5404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 implementación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-2743200" y="24688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Técnico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construyó, validó y calibró el modelo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de datos y descripción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entrenamiento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 (buró + comportamiento)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default en la muestra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4" name="Text 12"/>
          <p:cNvSpPr/>
          <p:nvPr/>
        </p:nvSpPr>
        <p:spPr>
          <a:xfrm>
            <a:off x="891540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30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 estratificado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disponibles (grupos principales)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8" name="Shape 16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9" name="Text 17"/>
          <p:cNvSpPr/>
          <p:nvPr/>
        </p:nvSpPr>
        <p:spPr>
          <a:xfrm>
            <a:off x="74980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 crédito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2245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línea revolvente utilizada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38404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3" name="Shape 21"/>
          <p:cNvSpPr/>
          <p:nvPr/>
        </p:nvSpPr>
        <p:spPr>
          <a:xfrm>
            <a:off x="6446520" y="405993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4" name="Text 22"/>
          <p:cNvSpPr/>
          <p:nvPr/>
        </p:nvSpPr>
        <p:spPr>
          <a:xfrm>
            <a:off x="644652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25" name="Text 23"/>
          <p:cNvSpPr/>
          <p:nvPr/>
        </p:nvSpPr>
        <p:spPr>
          <a:xfrm>
            <a:off x="7022592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 histórica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22592" y="42245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veces con atraso 30-59 / 60-89 / 90+ días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7375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8" name="Shape 26"/>
          <p:cNvSpPr/>
          <p:nvPr/>
        </p:nvSpPr>
        <p:spPr>
          <a:xfrm>
            <a:off x="749808" y="50932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9" name="Text 27"/>
          <p:cNvSpPr/>
          <p:nvPr/>
        </p:nvSpPr>
        <p:spPr>
          <a:xfrm>
            <a:off x="749808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30" name="Text 28"/>
          <p:cNvSpPr/>
          <p:nvPr/>
        </p:nvSpPr>
        <p:spPr>
          <a:xfrm>
            <a:off x="1325880" y="4946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deuda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5257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deuda/ingreso, líneas abiertas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487375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33" name="Shape 31"/>
          <p:cNvSpPr/>
          <p:nvPr/>
        </p:nvSpPr>
        <p:spPr>
          <a:xfrm>
            <a:off x="6446520" y="509320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4" name="Text 32"/>
          <p:cNvSpPr/>
          <p:nvPr/>
        </p:nvSpPr>
        <p:spPr>
          <a:xfrm>
            <a:off x="644652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35" name="Text 33"/>
          <p:cNvSpPr/>
          <p:nvPr/>
        </p:nvSpPr>
        <p:spPr>
          <a:xfrm>
            <a:off x="7022592" y="4946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22592" y="5257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dependientes, propiedades inmobiliarias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pipeline de modelamiento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distribuciones, correlaciones y calidad de dato.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79776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2944368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44368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 y winsorización de variables.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5175504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75504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y Log-Odds Rolling Smoothing, ratios derivados y transformaciones.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42048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" name="Text 18"/>
          <p:cNvSpPr/>
          <p:nvPr/>
        </p:nvSpPr>
        <p:spPr>
          <a:xfrm>
            <a:off x="7406640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06640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/ Out-of-Time (OOT) estratificados.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45168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73184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5" name="Text 23"/>
          <p:cNvSpPr/>
          <p:nvPr/>
        </p:nvSpPr>
        <p:spPr>
          <a:xfrm>
            <a:off x="9637776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37776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37776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comparación de algoritmos candidatos.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final seleccionado por desempeño e interpretabilidad: CatBoost, elegido frente a 6 algoritmos comparados.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58F9-2E04-769D-0678-546F6E0B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B399F2-9E00-2725-F75C-34FEA0DC99B7}"/>
              </a:ext>
            </a:extLst>
          </p:cNvPr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27ABC8-3779-6B82-E0E6-02525B0D2DF8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Elección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3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73B31FB-44C1-992F-2749-7EBEA10BAA67}"/>
              </a:ext>
            </a:extLst>
          </p:cNvPr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AUC (cross-validation) entre los 6 algoritmos evaluados en 03_training_model.ipynb.</a:t>
            </a:r>
            <a:endParaRPr lang="en-US" sz="12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EF73A4A-532F-20A1-5094-CD8293DCDCE8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A06E1D-BDC5-1C83-3D17-F6D4A7AB164D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100" name="Chart 99"/>
          <p:cNvGraphicFramePr/>
          <p:nvPr/>
        </p:nvGraphicFramePr>
        <p:xfrm>
          <a:off x="548640" y="187452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Shape 100"/>
          <p:cNvSpPr/>
          <p:nvPr/>
        </p:nvSpPr>
        <p:spPr>
          <a:xfrm>
            <a:off x="7406640" y="187452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2" name="Text 101"/>
          <p:cNvSpPr/>
          <p:nvPr/>
        </p:nvSpPr>
        <p:spPr>
          <a:xfrm>
            <a:off x="768096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CatBoost</a:t>
            </a:r>
            <a:endParaRPr lang="en-US" sz="1500" dirty="0"/>
          </a:p>
        </p:txBody>
      </p:sp>
      <p:sp>
        <p:nvSpPr>
          <p:cNvPr id="103" name="Shape 102"/>
          <p:cNvSpPr/>
          <p:nvPr/>
        </p:nvSpPr>
        <p:spPr>
          <a:xfrm>
            <a:off x="7680960" y="26609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4" name="Text 103"/>
          <p:cNvSpPr/>
          <p:nvPr/>
        </p:nvSpPr>
        <p:spPr>
          <a:xfrm>
            <a:off x="7909560" y="2514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alcanzó un AUC (CV) de 0.825 — competitivo e interpretable, pero no fue el modelo elegido.</a:t>
            </a:r>
            <a:endParaRPr lang="en-US" sz="1150" dirty="0"/>
          </a:p>
        </p:txBody>
      </p:sp>
      <p:sp>
        <p:nvSpPr>
          <p:cNvPr id="105" name="Shape 104"/>
          <p:cNvSpPr/>
          <p:nvPr/>
        </p:nvSpPr>
        <p:spPr>
          <a:xfrm>
            <a:off x="7680960" y="35295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6" name="Text 105"/>
          <p:cNvSpPr/>
          <p:nvPr/>
        </p:nvSpPr>
        <p:spPr>
          <a:xfrm>
            <a:off x="790956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(0.864) y LightGBM (0.865) tuvieron mejor poder predictivo en la comparación de 6 modelos evaluados.</a:t>
            </a:r>
            <a:endParaRPr lang="en-US" sz="1150" dirty="0"/>
          </a:p>
        </p:txBody>
      </p:sp>
      <p:sp>
        <p:nvSpPr>
          <p:cNvPr id="107" name="Shape 106"/>
          <p:cNvSpPr/>
          <p:nvPr/>
        </p:nvSpPr>
        <p:spPr>
          <a:xfrm>
            <a:off x="7680960" y="439826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8" name="Text 107"/>
          <p:cNvSpPr/>
          <p:nvPr/>
        </p:nvSpPr>
        <p:spPr>
          <a:xfrm>
            <a:off x="7909560" y="4251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se seleccionó como campeón de producción por su balance entre desempeño e interpretabilidad (soporte nativo de SHAP).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7605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 e interpretabilidad (SHAP)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variables mueven el modelo y por qué.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294243"/>
            <a:ext cx="4206240" cy="3401568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680960" y="250455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del SHAP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308062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6"/>
          <p:cNvSpPr/>
          <p:nvPr/>
        </p:nvSpPr>
        <p:spPr>
          <a:xfrm>
            <a:off x="7909560" y="293432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utilización de la línea, mayor probabilidad de default (dirección positiva y consistente).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394930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8"/>
          <p:cNvSpPr/>
          <p:nvPr/>
        </p:nvSpPr>
        <p:spPr>
          <a:xfrm>
            <a:off x="7909560" y="380300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atrasos de 30-59 días son el segundo driver más fuerte del score, seguidos por atrasos de 90+ y 60-89 días.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481798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0"/>
          <p:cNvSpPr/>
          <p:nvPr/>
        </p:nvSpPr>
        <p:spPr>
          <a:xfrm>
            <a:off x="7909560" y="467168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 la edad es no lineal: clientes jóvenes concentran mayor riesgo relativo.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32FF-7DA2-67E8-7E2D-7AB95085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0A411E-58B5-908E-041F-5849E50C974A}"/>
              </a:ext>
            </a:extLst>
          </p:cNvPr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7FBF04-0C45-BC5A-A122-3392CC807B1A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Simulación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para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diferentes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tipos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de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clientes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D0B7C5-BB10-388F-D8BF-C129E5B74D96}"/>
              </a:ext>
            </a:extLst>
          </p:cNvPr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features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999F414-0469-8580-B27F-1D9C47C8710A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F568066-9442-1A0E-74E5-176BF1CC6E71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0" name="Card0Shape4"/>
          <p:cNvSpPr/>
          <p:nvPr/>
        </p:nvSpPr>
        <p:spPr>
          <a:xfrm>
            <a:off x="54864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1" name="Card0Shape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02" name="Card0Shape6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03" name="Card0Shape7"/>
          <p:cNvSpPr/>
          <p:nvPr/>
        </p:nvSpPr>
        <p:spPr>
          <a:xfrm>
            <a:off x="14630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Riesgo</a:t>
            </a:r>
            <a:endParaRPr lang="en-US" sz="1700" dirty="0"/>
          </a:p>
        </p:txBody>
      </p:sp>
      <p:sp>
        <p:nvSpPr>
          <p:cNvPr id="204" name="Card0Shape8"/>
          <p:cNvSpPr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05" name="Card0Shape9"/>
          <p:cNvSpPr/>
          <p:nvPr/>
        </p:nvSpPr>
        <p:spPr>
          <a:xfrm>
            <a:off x="82296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0.60%</a:t>
            </a:r>
            <a:endParaRPr lang="en-US" sz="2200" dirty="0"/>
          </a:p>
        </p:txBody>
      </p:sp>
      <p:sp>
        <p:nvSpPr>
          <p:cNvPr id="206" name="Card0Shape10"/>
          <p:cNvSpPr/>
          <p:nvPr/>
        </p:nvSpPr>
        <p:spPr>
          <a:xfrm>
            <a:off x="82296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08" name="Card1Shape4"/>
          <p:cNvSpPr/>
          <p:nvPr/>
        </p:nvSpPr>
        <p:spPr>
          <a:xfrm>
            <a:off x="434340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9" name="Card1Shape5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0" name="Card1Shape6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1" name="Card1Shape7"/>
          <p:cNvSpPr/>
          <p:nvPr/>
        </p:nvSpPr>
        <p:spPr>
          <a:xfrm>
            <a:off x="525780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 Riesgo</a:t>
            </a:r>
            <a:endParaRPr lang="en-US" sz="1700" dirty="0"/>
          </a:p>
        </p:txBody>
      </p:sp>
      <p:sp>
        <p:nvSpPr>
          <p:cNvPr id="212" name="Card1Shape8"/>
          <p:cNvSpPr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13" name="Card1Shape9"/>
          <p:cNvSpPr/>
          <p:nvPr/>
        </p:nvSpPr>
        <p:spPr>
          <a:xfrm>
            <a:off x="461772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2.00%</a:t>
            </a:r>
            <a:endParaRPr lang="en-US" sz="2200" dirty="0"/>
          </a:p>
        </p:txBody>
      </p:sp>
      <p:sp>
        <p:nvSpPr>
          <p:cNvPr id="214" name="Card1Shape10"/>
          <p:cNvSpPr/>
          <p:nvPr/>
        </p:nvSpPr>
        <p:spPr>
          <a:xfrm>
            <a:off x="461772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16" name="Card2Shape4"/>
          <p:cNvSpPr/>
          <p:nvPr/>
        </p:nvSpPr>
        <p:spPr>
          <a:xfrm>
            <a:off x="813816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17" name="Card2Shape5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B84C4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8" name="Card2Shape6"/>
          <p:cNvSpPr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9" name="Card2Shape7"/>
          <p:cNvSpPr/>
          <p:nvPr/>
        </p:nvSpPr>
        <p:spPr>
          <a:xfrm>
            <a:off x="90525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Riesgo</a:t>
            </a:r>
            <a:endParaRPr lang="en-US" sz="1700" dirty="0"/>
          </a:p>
        </p:txBody>
      </p:sp>
      <p:sp>
        <p:nvSpPr>
          <p:cNvPr id="220" name="Card2Shape8"/>
          <p:cNvSpPr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21" name="Card2Shape9"/>
          <p:cNvSpPr/>
          <p:nvPr/>
        </p:nvSpPr>
        <p:spPr>
          <a:xfrm>
            <a:off x="841248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8.00%</a:t>
            </a:r>
            <a:endParaRPr lang="en-US" sz="2200" dirty="0"/>
          </a:p>
        </p:txBody>
      </p:sp>
      <p:sp>
        <p:nvSpPr>
          <p:cNvPr id="222" name="Card2Shape10"/>
          <p:cNvSpPr/>
          <p:nvPr/>
        </p:nvSpPr>
        <p:spPr>
          <a:xfrm>
            <a:off x="841248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graphicFrame>
        <p:nvGraphicFramePr>
          <p:cNvPr id="300" name="WaterfallChart0"/>
          <p:cNvGraphicFramePr/>
          <p:nvPr/>
        </p:nvGraphicFramePr>
        <p:xfrm>
          <a:off x="66294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1" name="WaterfallChart1"/>
          <p:cNvGraphicFramePr/>
          <p:nvPr/>
        </p:nvGraphicFramePr>
        <p:xfrm>
          <a:off x="445770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2" name="WaterfallChart2"/>
          <p:cNvGraphicFramePr/>
          <p:nvPr/>
        </p:nvGraphicFramePr>
        <p:xfrm>
          <a:off x="825246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3444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y métricas de desempeño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212080" cy="1371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- 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" name="Table 1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492192"/>
              </p:ext>
            </p:extLst>
          </p:nvPr>
        </p:nvGraphicFramePr>
        <p:xfrm>
          <a:off x="548640" y="4754880"/>
          <a:ext cx="5212080" cy="1524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6126480" y="16916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DECF00-92AB-E748-C344-6D28462BD667}"/>
              </a:ext>
            </a:extLst>
          </p:cNvPr>
          <p:cNvSpPr/>
          <p:nvPr/>
        </p:nvSpPr>
        <p:spPr>
          <a:xfrm>
            <a:off x="701040" y="3855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mantiene discriminación estable entre train, test y out-of-time — sin señales de sobreajuste relevante.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 de la métrica en el tiempo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Gini no es un número fijo: se monitorea mes a mes para detectar degradación temprana del modelo.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11064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alerta: caída del Gini &gt; 10% respecto a la línea base → dispara revisión / recalibración del modelo.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el desempeño esperado (al momento del diseño) y el observado en un periodo posterior fuera de muestra.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057400"/>
            <a:ext cx="4572000" cy="436168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3152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estabilidad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por variable (rango)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0.0000–0.0004 (10 variables, sin drift)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mensual (rango)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0.66–0.71 (12 periodos, ranking estable)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PD media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4773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 p.p. (bad rate ~11.1% vs. PD predicha ~6.7%)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0" y="5303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55961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drift de features y ranking (Gini) estable, pero la PD promedio predicha subestima la mora observada en ~4.4 p.p. de forma consistente — se recomienda recalibrar el modelo.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 del modelo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5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predicha debe reflejar la tasa de default real, porque de ahí salen pricing y provisiones.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01168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4980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y lectura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0" y="299293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6"/>
          <p:cNvSpPr/>
          <p:nvPr/>
        </p:nvSpPr>
        <p:spPr>
          <a:xfrm>
            <a:off x="7726680" y="2651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aplicado: Platt scaling sobre el score base.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369672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8"/>
          <p:cNvSpPr/>
          <p:nvPr/>
        </p:nvSpPr>
        <p:spPr>
          <a:xfrm>
            <a:off x="7726680" y="35204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de la </a:t>
            </a:r>
            <a:r>
              <a:rPr lang="en-US" sz="1150" dirty="0" err="1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deciles caen dentro del intervalo de Vasicek (95%, ρ Basel retail) — calibración validada estadísticamente, no solo visualmente.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464035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0"/>
          <p:cNvSpPr/>
          <p:nvPr/>
        </p:nvSpPr>
        <p:spPr>
          <a:xfrm>
            <a:off x="7726680" y="43891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decil de mayor riesgo (D10) es el más sensible: revisar aquí ante recalibraciones futuras.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550903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2"/>
          <p:cNvSpPr/>
          <p:nvPr/>
        </p:nvSpPr>
        <p:spPr>
          <a:xfrm>
            <a:off x="7726680" y="5257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uso directo del score para pricing basado en riesgo y cálculo de provisiones (PD × LGD × EAD).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-2743200" y="24688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 Negocio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el modelo en decisiones y en resultados económicos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score a decisión: bandas y cutoffs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bandas son </a:t>
            </a:r>
            <a:r>
              <a:rPr lang="en-US" sz="120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fijas</a:t>
            </a: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están calibradas en producción — ver la economía real de cada banda en la sección de impacto económico.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00" name="Banda0Shape4"/>
          <p:cNvSpPr/>
          <p:nvPr/>
        </p:nvSpPr>
        <p:spPr>
          <a:xfrm>
            <a:off x="54864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01" name="Banda0Shape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02" name="Banda0Shape6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03" name="Banda0Shape7"/>
          <p:cNvSpPr/>
          <p:nvPr/>
        </p:nvSpPr>
        <p:spPr>
          <a:xfrm>
            <a:off x="146304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Riesgo</a:t>
            </a:r>
            <a:endParaRPr lang="en-US" sz="1700" dirty="0"/>
          </a:p>
        </p:txBody>
      </p:sp>
      <p:sp>
        <p:nvSpPr>
          <p:cNvPr id="404" name="Banda0Shape8"/>
          <p:cNvSpPr/>
          <p:nvPr/>
        </p:nvSpPr>
        <p:spPr>
          <a:xfrm>
            <a:off x="82296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05" name="Banda0Shape9"/>
          <p:cNvSpPr/>
          <p:nvPr/>
        </p:nvSpPr>
        <p:spPr>
          <a:xfrm>
            <a:off x="82296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1.21%</a:t>
            </a:r>
            <a:endParaRPr lang="en-US" sz="2200" dirty="0"/>
          </a:p>
        </p:txBody>
      </p:sp>
      <p:sp>
        <p:nvSpPr>
          <p:cNvPr id="406" name="Banda0Shape10"/>
          <p:cNvSpPr/>
          <p:nvPr/>
        </p:nvSpPr>
        <p:spPr>
          <a:xfrm>
            <a:off x="82296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07" name="Banda0Shape11"/>
          <p:cNvSpPr/>
          <p:nvPr/>
        </p:nvSpPr>
        <p:spPr>
          <a:xfrm>
            <a:off x="82296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automática</a:t>
            </a:r>
            <a:endParaRPr lang="en-US" sz="1300" dirty="0"/>
          </a:p>
        </p:txBody>
      </p:sp>
      <p:sp>
        <p:nvSpPr>
          <p:cNvPr id="408" name="Banda1Shape4"/>
          <p:cNvSpPr/>
          <p:nvPr/>
        </p:nvSpPr>
        <p:spPr>
          <a:xfrm>
            <a:off x="337185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09" name="Banda1Shape5"/>
          <p:cNvSpPr/>
          <p:nvPr/>
        </p:nvSpPr>
        <p:spPr>
          <a:xfrm>
            <a:off x="364617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0" name="Banda1Shape6"/>
          <p:cNvSpPr/>
          <p:nvPr/>
        </p:nvSpPr>
        <p:spPr>
          <a:xfrm>
            <a:off x="36461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11" name="Banda1Shape7"/>
          <p:cNvSpPr/>
          <p:nvPr/>
        </p:nvSpPr>
        <p:spPr>
          <a:xfrm>
            <a:off x="428625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 Riesgo</a:t>
            </a:r>
            <a:endParaRPr lang="en-US" sz="1700" dirty="0"/>
          </a:p>
        </p:txBody>
      </p:sp>
      <p:sp>
        <p:nvSpPr>
          <p:cNvPr id="412" name="Banda1Shape8"/>
          <p:cNvSpPr/>
          <p:nvPr/>
        </p:nvSpPr>
        <p:spPr>
          <a:xfrm>
            <a:off x="364617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13" name="Banda1Shape9"/>
          <p:cNvSpPr/>
          <p:nvPr/>
        </p:nvSpPr>
        <p:spPr>
          <a:xfrm>
            <a:off x="364617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3.1%</a:t>
            </a:r>
            <a:endParaRPr lang="en-US" sz="2200" dirty="0"/>
          </a:p>
        </p:txBody>
      </p:sp>
      <p:sp>
        <p:nvSpPr>
          <p:cNvPr id="414" name="Banda1Shape10"/>
          <p:cNvSpPr/>
          <p:nvPr/>
        </p:nvSpPr>
        <p:spPr>
          <a:xfrm>
            <a:off x="364617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15" name="Banda1Shape11"/>
          <p:cNvSpPr/>
          <p:nvPr/>
        </p:nvSpPr>
        <p:spPr>
          <a:xfrm>
            <a:off x="364617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/ condiciones ajustadas</a:t>
            </a:r>
            <a:endParaRPr lang="en-US" sz="1300" dirty="0"/>
          </a:p>
        </p:txBody>
      </p:sp>
      <p:sp>
        <p:nvSpPr>
          <p:cNvPr id="416" name="Banda2Shape4"/>
          <p:cNvSpPr/>
          <p:nvPr/>
        </p:nvSpPr>
        <p:spPr>
          <a:xfrm>
            <a:off x="619506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17" name="Banda2Shape5"/>
          <p:cNvSpPr/>
          <p:nvPr/>
        </p:nvSpPr>
        <p:spPr>
          <a:xfrm>
            <a:off x="6469380" y="1965960"/>
            <a:ext cx="457200" cy="457200"/>
          </a:xfrm>
          <a:prstGeom prst="ellipse">
            <a:avLst/>
          </a:prstGeom>
          <a:solidFill>
            <a:srgbClr val="D97C3D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8" name="Banda2Shape6"/>
          <p:cNvSpPr/>
          <p:nvPr/>
        </p:nvSpPr>
        <p:spPr>
          <a:xfrm>
            <a:off x="64693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19" name="Banda2Shape7"/>
          <p:cNvSpPr/>
          <p:nvPr/>
        </p:nvSpPr>
        <p:spPr>
          <a:xfrm>
            <a:off x="710946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Riesgo</a:t>
            </a:r>
            <a:endParaRPr lang="en-US" sz="1700" dirty="0"/>
          </a:p>
        </p:txBody>
      </p:sp>
      <p:sp>
        <p:nvSpPr>
          <p:cNvPr id="420" name="Banda2Shape8"/>
          <p:cNvSpPr/>
          <p:nvPr/>
        </p:nvSpPr>
        <p:spPr>
          <a:xfrm>
            <a:off x="646938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21" name="Banda2Shape9"/>
          <p:cNvSpPr/>
          <p:nvPr/>
        </p:nvSpPr>
        <p:spPr>
          <a:xfrm>
            <a:off x="646938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16.7%</a:t>
            </a:r>
            <a:endParaRPr lang="en-US" sz="2200" dirty="0"/>
          </a:p>
        </p:txBody>
      </p:sp>
      <p:sp>
        <p:nvSpPr>
          <p:cNvPr id="422" name="Banda2Shape10"/>
          <p:cNvSpPr/>
          <p:nvPr/>
        </p:nvSpPr>
        <p:spPr>
          <a:xfrm>
            <a:off x="646938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23" name="Banda2Shape11"/>
          <p:cNvSpPr/>
          <p:nvPr/>
        </p:nvSpPr>
        <p:spPr>
          <a:xfrm>
            <a:off x="646938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adicionales o repricing (aún rentable: ROA 12.9%)</a:t>
            </a:r>
            <a:endParaRPr lang="en-US" sz="1300" dirty="0"/>
          </a:p>
        </p:txBody>
      </p:sp>
      <p:sp>
        <p:nvSpPr>
          <p:cNvPr id="424" name="Banda3Shape4"/>
          <p:cNvSpPr/>
          <p:nvPr/>
        </p:nvSpPr>
        <p:spPr>
          <a:xfrm>
            <a:off x="901827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25" name="Banda3Shape5"/>
          <p:cNvSpPr/>
          <p:nvPr/>
        </p:nvSpPr>
        <p:spPr>
          <a:xfrm>
            <a:off x="9292590" y="1965960"/>
            <a:ext cx="457200" cy="457200"/>
          </a:xfrm>
          <a:prstGeom prst="ellipse">
            <a:avLst/>
          </a:prstGeom>
          <a:solidFill>
            <a:srgbClr val="B84C4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26" name="Banda3Shape6"/>
          <p:cNvSpPr/>
          <p:nvPr/>
        </p:nvSpPr>
        <p:spPr>
          <a:xfrm>
            <a:off x="929259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27" name="Banda3Shape7"/>
          <p:cNvSpPr/>
          <p:nvPr/>
        </p:nvSpPr>
        <p:spPr>
          <a:xfrm>
            <a:off x="993267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Muy Alto Riesgo</a:t>
            </a:r>
            <a:endParaRPr lang="en-US" sz="1700" dirty="0"/>
          </a:p>
        </p:txBody>
      </p:sp>
      <p:sp>
        <p:nvSpPr>
          <p:cNvPr id="428" name="Banda3Shape8"/>
          <p:cNvSpPr/>
          <p:nvPr/>
        </p:nvSpPr>
        <p:spPr>
          <a:xfrm>
            <a:off x="929259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29" name="Banda3Shape9"/>
          <p:cNvSpPr/>
          <p:nvPr/>
        </p:nvSpPr>
        <p:spPr>
          <a:xfrm>
            <a:off x="929259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&gt; 16.7%</a:t>
            </a:r>
            <a:endParaRPr lang="en-US" sz="2200" dirty="0"/>
          </a:p>
        </p:txBody>
      </p:sp>
      <p:sp>
        <p:nvSpPr>
          <p:cNvPr id="430" name="Banda3Shape10"/>
          <p:cNvSpPr/>
          <p:nvPr/>
        </p:nvSpPr>
        <p:spPr>
          <a:xfrm>
            <a:off x="929259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31" name="Banda3Shape11"/>
          <p:cNvSpPr/>
          <p:nvPr/>
        </p:nvSpPr>
        <p:spPr>
          <a:xfrm>
            <a:off x="929259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(único segmento no rentable: ROA -3.9%)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clave, en lenguaje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El pareto de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importancia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contribución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que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tuvieron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las variables a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nivel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global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fueron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las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siguientes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4091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77240" y="226036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77240" y="22603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3235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la línea de crédito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13235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usan casi todo su cupo disponible incumplen con más frecuencia — es la señal más fuerte del modelo.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9227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777240" y="361172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777240" y="36117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48371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Atrasos recientes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348371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más atrasos de 60+ días en el historial reciente multiplica el riesgo de default.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3357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6" name="Shape 14"/>
          <p:cNvSpPr/>
          <p:nvPr/>
        </p:nvSpPr>
        <p:spPr>
          <a:xfrm>
            <a:off x="777240" y="5053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777240" y="5053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925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 del cliente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4925016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más jóvenes muestran mayor riesgo relativo, probablemente por menor historial crediticio.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económico del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 cartera (ponderado, real)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Text 6"/>
          <p:cNvSpPr/>
          <p:nvPr/>
        </p:nvSpPr>
        <p:spPr>
          <a:xfrm>
            <a:off x="434340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cartera en bandas </a:t>
            </a:r>
            <a:r>
              <a:rPr lang="en-US" sz="12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rentables</a:t>
            </a: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(Bajo + Medio + Alto)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813816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 Muy Alto Riesgo — único segmento no rentable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703320"/>
          <a:ext cx="6035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858000" y="3703320"/>
            <a:ext cx="475488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2"/>
          <p:cNvSpPr/>
          <p:nvPr/>
        </p:nvSpPr>
        <p:spPr>
          <a:xfrm>
            <a:off x="713232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del cálculo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425196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intereses y comisiones, menos pérdida esperada (PD × LGD × EAD) y costo de capital, sobre la cartera real segmentada en las 4 bandas de riesgo del modelo (gestion_portafolio(), 04_model_evaluation.ipynb).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cartera por banda de riesgo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Participación, tasa activa, ROA y utilidad neta reales de las 4 bandas de riesgo — la base con la que se validaron los thresholds del modelo en producción.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965960"/>
          <a:ext cx="11064240" cy="2194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activa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 neta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S/13.3M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S/19.3M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S/32.5M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S/-2.8M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Shape 4"/>
          <p:cNvSpPr/>
          <p:nvPr/>
        </p:nvSpPr>
        <p:spPr>
          <a:xfrm>
            <a:off x="868680" y="517385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 dirty="0"/>
          </a:p>
        </p:txBody>
      </p:sp>
      <p:sp>
        <p:nvSpPr>
          <p:cNvPr id="8" name="Text 5"/>
          <p:cNvSpPr/>
          <p:nvPr/>
        </p:nvSpPr>
        <p:spPr>
          <a:xfrm>
            <a:off x="868680" y="51738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40" dirty="0"/>
          </a:p>
        </p:txBody>
      </p:sp>
      <p:sp>
        <p:nvSpPr>
          <p:cNvPr id="9" name="Text 6"/>
          <p:cNvSpPr/>
          <p:nvPr/>
        </p:nvSpPr>
        <p:spPr>
          <a:xfrm>
            <a:off x="15544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4956048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de gestión debe estar en Muy Alto Riesgo (8.4% de la cartera, ROA -3.9%) — candidata a rechazo o repricing. Las otras 3 bandas ya son rentables (ROA 4.7% a 12.9%) y no requieren intervención.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e implementación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02517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4 bandas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las 4 bandas de riesgo ya calibradas en producción, con foco de revisión a 90 días en el tratamiento de Muy Alto Riesgo (única banda no rentable).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6519672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519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9752" y="202517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continuo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5603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de Gini, PSI y tasa de default observada vs. esperada por banda.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35689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del modelo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dueño del modelo, comité de validación y umbral de alerta para recalibración.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4069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" name="Shape 18"/>
          <p:cNvSpPr/>
          <p:nvPr/>
        </p:nvSpPr>
        <p:spPr>
          <a:xfrm>
            <a:off x="6519672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" name="Text 19"/>
          <p:cNvSpPr/>
          <p:nvPr/>
        </p:nvSpPr>
        <p:spPr>
          <a:xfrm>
            <a:off x="65196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9752" y="435689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reentrenamiento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Reentrenar cuando el Gini caiga &gt;10% de la línea base o cada 12-18 meses, lo que ocurra primero.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TÉCNICO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 AUC 0.84-0.86, calibrado, estable en el tiempo (Gini sin degradación estructural) y explicable a nivel individual mediante SHAP.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6565392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NEGOCIO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4 bandas de riesgo calibradas, el ROA de cartera ponderado es 7.18% y el 91.6% de la cartera está en bandas rentables — Muy Alto Riesgo (8.4%, ROA -3.9%) es el único segmento candidato a rechazo o repricing.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1851</Words>
  <Application>Microsoft Macintosh PowerPoint</Application>
  <PresentationFormat>Widescreen</PresentationFormat>
  <Paragraphs>333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5</cp:revision>
  <dcterms:created xsi:type="dcterms:W3CDTF">2026-08-20T21:18:28Z</dcterms:created>
  <dcterms:modified xsi:type="dcterms:W3CDTF">2026-08-27T03:34:47Z</dcterms:modified>
</cp:coreProperties>
</file>