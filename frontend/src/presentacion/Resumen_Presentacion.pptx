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0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0" r:id="rId4"/>
    <p:sldId id="261" r:id="rId5"/>
    <p:sldId id="262" r:id="rId6"/>
    <p:sldId id="277" r:id="rId7"/>
    <p:sldId id="263" r:id="rId8"/>
    <p:sldId id="278" r:id="rId9"/>
    <p:sldId id="264" r:id="rId10"/>
    <p:sldId id="266" r:id="rId11"/>
    <p:sldId id="267" r:id="rId12"/>
    <p:sldId id="265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8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Comparación de modelos — AUC (cross-validation)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(CV)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1A45"/>
                    </a:solidFill>
                    <a:latin typeface="Arial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LightGBM</c:v>
                </c:pt>
                <c:pt idx="1">
                  <c:v>CatBoost</c:v>
                </c:pt>
                <c:pt idx="2">
                  <c:v>XGBoost</c:v>
                </c:pt>
                <c:pt idx="3">
                  <c:v>RandomForest</c:v>
                </c:pt>
                <c:pt idx="4">
                  <c:v>LogisticRegression</c:v>
                </c:pt>
                <c:pt idx="5">
                  <c:v>DecisionTree</c:v>
                </c:pt>
              </c:strCache>
            </c:strRef>
          </c:cat>
          <c:val>
            <c:numRef>
              <c:f>Sheet1!$B$2:$B$7</c:f>
              <c:numCache>
                <c:formatCode>0.000</c:formatCode>
                <c:ptCount val="6"/>
                <c:pt idx="0">
                  <c:v>0.86499999999999999</c:v>
                </c:pt>
                <c:pt idx="1">
                  <c:v>0.86399999999999999</c:v>
                </c:pt>
                <c:pt idx="2">
                  <c:v>0.85599999999999998</c:v>
                </c:pt>
                <c:pt idx="3">
                  <c:v>0.84</c:v>
                </c:pt>
                <c:pt idx="4">
                  <c:v>0.82499999999999996</c:v>
                </c:pt>
                <c:pt idx="5">
                  <c:v>0.61399999999999999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8E-9547-9037-C4444C194B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41A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Importancia de variables (SHAP – valor absoluto medio)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Impacto medio |SHAP|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1A45"/>
                    </a:solidFill>
                    <a:latin typeface="Arial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Utilización línea de crédito</c:v>
                </c:pt>
                <c:pt idx="1">
                  <c:v>N° atrasos 30-59 días</c:v>
                </c:pt>
                <c:pt idx="2">
                  <c:v>N° atrasos 90+ días</c:v>
                </c:pt>
                <c:pt idx="3">
                  <c:v>N° atrasos 60-89 días</c:v>
                </c:pt>
                <c:pt idx="4">
                  <c:v>Edad</c:v>
                </c:pt>
                <c:pt idx="5">
                  <c:v>Ratio deuda / ingreso</c:v>
                </c:pt>
              </c:strCache>
            </c:strRef>
          </c:cat>
          <c:val>
            <c:numRef>
              <c:f>Sheet1!$B$2:$B$7</c:f>
              <c:numCache>
                <c:formatCode>0.0000</c:formatCode>
                <c:ptCount val="6"/>
                <c:pt idx="0">
                  <c:v>2.7799999999999998E-2</c:v>
                </c:pt>
                <c:pt idx="1">
                  <c:v>1.83E-2</c:v>
                </c:pt>
                <c:pt idx="2">
                  <c:v>1.78E-2</c:v>
                </c:pt>
                <c:pt idx="3">
                  <c:v>1.24E-2</c:v>
                </c:pt>
                <c:pt idx="4">
                  <c:v>7.9000000000000008E-3</c:v>
                </c:pt>
                <c:pt idx="5">
                  <c:v>6.3E-3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8E-9547-9037-C4444C194B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41A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Piso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Base 2.95%</c:v>
                </c:pt>
                <c:pt idx="1">
                  <c:v>Util. crédito −1.30pp</c:v>
                </c:pt>
                <c:pt idx="2">
                  <c:v>Edad −0.59pp</c:v>
                </c:pt>
                <c:pt idx="3">
                  <c:v>Ratio deuda −0.22pp</c:v>
                </c:pt>
                <c:pt idx="4">
                  <c:v>Otras −0.24pp</c:v>
                </c:pt>
                <c:pt idx="5">
                  <c:v>Final 0.60%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0</c:v>
                </c:pt>
                <c:pt idx="1">
                  <c:v>1.6473000000000002</c:v>
                </c:pt>
                <c:pt idx="2">
                  <c:v>1.0582000000000003</c:v>
                </c:pt>
                <c:pt idx="3">
                  <c:v>0.83820000000000028</c:v>
                </c:pt>
                <c:pt idx="4">
                  <c:v>0.59990000000000032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1C-9F42-82A8-EC232B8443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Contribución</c:v>
                </c:pt>
              </c:strCache>
            </c:strRef>
          </c:tx>
          <c:spPr>
            <a:solidFill>
              <a:srgbClr val="1E2761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821C-9F42-82A8-EC232B8443D1}"/>
              </c:ext>
            </c:extLst>
          </c:dPt>
          <c:dPt>
            <c:idx val="1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821C-9F42-82A8-EC232B8443D1}"/>
              </c:ext>
            </c:extLst>
          </c:dPt>
          <c:dPt>
            <c:idx val="2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821C-9F42-82A8-EC232B8443D1}"/>
              </c:ext>
            </c:extLst>
          </c:dPt>
          <c:dPt>
            <c:idx val="3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821C-9F42-82A8-EC232B8443D1}"/>
              </c:ext>
            </c:extLst>
          </c:dPt>
          <c:dPt>
            <c:idx val="4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A-821C-9F42-82A8-EC232B8443D1}"/>
              </c:ext>
            </c:extLst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C-821C-9F42-82A8-EC232B8443D1}"/>
              </c:ext>
            </c:extLst>
          </c:dPt>
          <c:cat>
            <c:strRef>
              <c:f>Sheet1!$A$2:$A$7</c:f>
              <c:strCache>
                <c:ptCount val="6"/>
                <c:pt idx="0">
                  <c:v>Base 2.95%</c:v>
                </c:pt>
                <c:pt idx="1">
                  <c:v>Util. crédito −1.30pp</c:v>
                </c:pt>
                <c:pt idx="2">
                  <c:v>Edad −0.59pp</c:v>
                </c:pt>
                <c:pt idx="3">
                  <c:v>Ratio deuda −0.22pp</c:v>
                </c:pt>
                <c:pt idx="4">
                  <c:v>Otras −0.24pp</c:v>
                </c:pt>
                <c:pt idx="5">
                  <c:v>Final 0.60%</c:v>
                </c:pt>
              </c:strCache>
            </c:strRef>
          </c:cat>
          <c:val>
            <c:numRef>
              <c:f>Sheet1!$C$2:$C$7</c:f>
              <c:numCache>
                <c:formatCode>0.00</c:formatCode>
                <c:ptCount val="6"/>
                <c:pt idx="0">
                  <c:v>2.9523000000000001</c:v>
                </c:pt>
                <c:pt idx="1">
                  <c:v>1.3049999999999999</c:v>
                </c:pt>
                <c:pt idx="2">
                  <c:v>0.58909999999999996</c:v>
                </c:pt>
                <c:pt idx="3">
                  <c:v>0.22</c:v>
                </c:pt>
                <c:pt idx="4">
                  <c:v>0.23830000000000001</c:v>
                </c:pt>
                <c:pt idx="5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21C-9F42-82A8-EC232B8443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80"/>
        <c:axId val="20947381"/>
      </c:barChart>
      <c:catAx>
        <c:axId val="209473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888888"/>
            </a:solidFill>
            <a:prstDash val="solid"/>
            <a:round/>
          </a:ln>
        </c:spPr>
        <c:txPr>
          <a:bodyPr rot="-2700000" vert="horz"/>
          <a:lstStyle/>
          <a:p>
            <a:pPr>
              <a:defRPr sz="700" b="0" i="0" u="none" strike="noStrike">
                <a:solidFill>
                  <a:srgbClr val="141A45"/>
                </a:solidFill>
                <a:latin typeface="Arial"/>
              </a:defRPr>
            </a:pPr>
            <a:endParaRPr lang="en-US"/>
          </a:p>
        </c:txPr>
        <c:crossAx val="20947381"/>
        <c:crosses val="autoZero"/>
        <c:auto val="1"/>
        <c:lblAlgn val="ctr"/>
        <c:lblOffset val="100"/>
        <c:noMultiLvlLbl val="1"/>
      </c:catAx>
      <c:valAx>
        <c:axId val="20947381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80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Piso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Base 2.95%</c:v>
                </c:pt>
                <c:pt idx="1">
                  <c:v>Atraso 30-59d −0.46pp</c:v>
                </c:pt>
                <c:pt idx="2">
                  <c:v>Ingreso mensual +0.28pp</c:v>
                </c:pt>
                <c:pt idx="3">
                  <c:v>N° líneas −0.27pp</c:v>
                </c:pt>
                <c:pt idx="4">
                  <c:v>Otras −0.49pp</c:v>
                </c:pt>
                <c:pt idx="5">
                  <c:v>Final 2.00%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0</c:v>
                </c:pt>
                <c:pt idx="1">
                  <c:v>2.4881000000000002</c:v>
                </c:pt>
                <c:pt idx="2">
                  <c:v>2.4881000000000002</c:v>
                </c:pt>
                <c:pt idx="3">
                  <c:v>2.4891000000000001</c:v>
                </c:pt>
                <c:pt idx="4">
                  <c:v>2.0004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7A-EE48-AB80-D277F25899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Contribución</c:v>
                </c:pt>
              </c:strCache>
            </c:strRef>
          </c:tx>
          <c:spPr>
            <a:solidFill>
              <a:srgbClr val="1E2761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497A-EE48-AB80-D277F25899CF}"/>
              </c:ext>
            </c:extLst>
          </c:dPt>
          <c:dPt>
            <c:idx val="1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497A-EE48-AB80-D277F25899CF}"/>
              </c:ext>
            </c:extLst>
          </c:dPt>
          <c:dPt>
            <c:idx val="2"/>
            <c:invertIfNegative val="0"/>
            <c:bubble3D val="0"/>
            <c:spPr>
              <a:solidFill>
                <a:srgbClr val="B84C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497A-EE48-AB80-D277F25899CF}"/>
              </c:ext>
            </c:extLst>
          </c:dPt>
          <c:dPt>
            <c:idx val="3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497A-EE48-AB80-D277F25899CF}"/>
              </c:ext>
            </c:extLst>
          </c:dPt>
          <c:dPt>
            <c:idx val="4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A-497A-EE48-AB80-D277F25899CF}"/>
              </c:ext>
            </c:extLst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C-497A-EE48-AB80-D277F25899CF}"/>
              </c:ext>
            </c:extLst>
          </c:dPt>
          <c:cat>
            <c:strRef>
              <c:f>Sheet1!$A$2:$A$7</c:f>
              <c:strCache>
                <c:ptCount val="6"/>
                <c:pt idx="0">
                  <c:v>Base 2.95%</c:v>
                </c:pt>
                <c:pt idx="1">
                  <c:v>Atraso 30-59d −0.46pp</c:v>
                </c:pt>
                <c:pt idx="2">
                  <c:v>Ingreso mensual +0.28pp</c:v>
                </c:pt>
                <c:pt idx="3">
                  <c:v>N° líneas −0.27pp</c:v>
                </c:pt>
                <c:pt idx="4">
                  <c:v>Otras −0.49pp</c:v>
                </c:pt>
                <c:pt idx="5">
                  <c:v>Final 2.00%</c:v>
                </c:pt>
              </c:strCache>
            </c:strRef>
          </c:cat>
          <c:val>
            <c:numRef>
              <c:f>Sheet1!$C$2:$C$7</c:f>
              <c:numCache>
                <c:formatCode>0.00</c:formatCode>
                <c:ptCount val="6"/>
                <c:pt idx="0">
                  <c:v>2.9523000000000001</c:v>
                </c:pt>
                <c:pt idx="1">
                  <c:v>0.4642</c:v>
                </c:pt>
                <c:pt idx="2">
                  <c:v>0.27589999999999998</c:v>
                </c:pt>
                <c:pt idx="3">
                  <c:v>0.27489999999999998</c:v>
                </c:pt>
                <c:pt idx="4">
                  <c:v>0.48870000000000002</c:v>
                </c:pt>
                <c:pt idx="5">
                  <c:v>2.0003000000000002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497A-EE48-AB80-D277F25899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90"/>
        <c:axId val="20947391"/>
      </c:barChart>
      <c:catAx>
        <c:axId val="2094739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888888"/>
            </a:solidFill>
            <a:prstDash val="solid"/>
            <a:round/>
          </a:ln>
        </c:spPr>
        <c:txPr>
          <a:bodyPr rot="-2700000" vert="horz"/>
          <a:lstStyle/>
          <a:p>
            <a:pPr>
              <a:defRPr sz="700" b="0" i="0" u="none" strike="noStrike">
                <a:solidFill>
                  <a:srgbClr val="141A45"/>
                </a:solidFill>
                <a:latin typeface="Arial"/>
              </a:defRPr>
            </a:pPr>
            <a:endParaRPr lang="en-US"/>
          </a:p>
        </c:txPr>
        <c:crossAx val="20947391"/>
        <c:crosses val="autoZero"/>
        <c:auto val="1"/>
        <c:lblAlgn val="ctr"/>
        <c:lblOffset val="100"/>
        <c:noMultiLvlLbl val="1"/>
      </c:catAx>
      <c:valAx>
        <c:axId val="20947391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90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Piso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Base 2.95%</c:v>
                </c:pt>
                <c:pt idx="1">
                  <c:v>Util. crédito +4.46pp</c:v>
                </c:pt>
                <c:pt idx="2">
                  <c:v>Ratio deuda +1.52pp</c:v>
                </c:pt>
                <c:pt idx="3">
                  <c:v>Atraso 30-59d −1.25pp</c:v>
                </c:pt>
                <c:pt idx="4">
                  <c:v>Otras +0.32pp</c:v>
                </c:pt>
                <c:pt idx="5">
                  <c:v>Final 8.00%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0</c:v>
                </c:pt>
                <c:pt idx="1">
                  <c:v>2.9523000000000001</c:v>
                </c:pt>
                <c:pt idx="2">
                  <c:v>7.4135</c:v>
                </c:pt>
                <c:pt idx="3">
                  <c:v>7.6846000000000005</c:v>
                </c:pt>
                <c:pt idx="4">
                  <c:v>7.6846000000000005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F4-1D42-97F8-FD683733DD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Contribución</c:v>
                </c:pt>
              </c:strCache>
            </c:strRef>
          </c:tx>
          <c:spPr>
            <a:solidFill>
              <a:srgbClr val="1E2761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A0F4-1D42-97F8-FD683733DD7F}"/>
              </c:ext>
            </c:extLst>
          </c:dPt>
          <c:dPt>
            <c:idx val="1"/>
            <c:invertIfNegative val="0"/>
            <c:bubble3D val="0"/>
            <c:spPr>
              <a:solidFill>
                <a:srgbClr val="B84C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A0F4-1D42-97F8-FD683733DD7F}"/>
              </c:ext>
            </c:extLst>
          </c:dPt>
          <c:dPt>
            <c:idx val="2"/>
            <c:invertIfNegative val="0"/>
            <c:bubble3D val="0"/>
            <c:spPr>
              <a:solidFill>
                <a:srgbClr val="B84C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A0F4-1D42-97F8-FD683733DD7F}"/>
              </c:ext>
            </c:extLst>
          </c:dPt>
          <c:dPt>
            <c:idx val="3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A0F4-1D42-97F8-FD683733DD7F}"/>
              </c:ext>
            </c:extLst>
          </c:dPt>
          <c:dPt>
            <c:idx val="4"/>
            <c:invertIfNegative val="0"/>
            <c:bubble3D val="0"/>
            <c:spPr>
              <a:solidFill>
                <a:srgbClr val="B84C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A-A0F4-1D42-97F8-FD683733DD7F}"/>
              </c:ext>
            </c:extLst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C-A0F4-1D42-97F8-FD683733DD7F}"/>
              </c:ext>
            </c:extLst>
          </c:dPt>
          <c:cat>
            <c:strRef>
              <c:f>Sheet1!$A$2:$A$7</c:f>
              <c:strCache>
                <c:ptCount val="6"/>
                <c:pt idx="0">
                  <c:v>Base 2.95%</c:v>
                </c:pt>
                <c:pt idx="1">
                  <c:v>Util. crédito +4.46pp</c:v>
                </c:pt>
                <c:pt idx="2">
                  <c:v>Ratio deuda +1.52pp</c:v>
                </c:pt>
                <c:pt idx="3">
                  <c:v>Atraso 30-59d −1.25pp</c:v>
                </c:pt>
                <c:pt idx="4">
                  <c:v>Otras +0.32pp</c:v>
                </c:pt>
                <c:pt idx="5">
                  <c:v>Final 8.00%</c:v>
                </c:pt>
              </c:strCache>
            </c:strRef>
          </c:cat>
          <c:val>
            <c:numRef>
              <c:f>Sheet1!$C$2:$C$7</c:f>
              <c:numCache>
                <c:formatCode>0.00</c:formatCode>
                <c:ptCount val="6"/>
                <c:pt idx="0">
                  <c:v>2.9523000000000001</c:v>
                </c:pt>
                <c:pt idx="1">
                  <c:v>4.4611999999999998</c:v>
                </c:pt>
                <c:pt idx="2">
                  <c:v>1.5223</c:v>
                </c:pt>
                <c:pt idx="3">
                  <c:v>1.2512000000000001</c:v>
                </c:pt>
                <c:pt idx="4">
                  <c:v>0.31530000000000002</c:v>
                </c:pt>
                <c:pt idx="5">
                  <c:v>7.9999000000000002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A0F4-1D42-97F8-FD683733DD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100"/>
        <c:axId val="209473101"/>
      </c:barChart>
      <c:catAx>
        <c:axId val="2094731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888888"/>
            </a:solidFill>
            <a:prstDash val="solid"/>
            <a:round/>
          </a:ln>
        </c:spPr>
        <c:txPr>
          <a:bodyPr rot="-2700000" vert="horz"/>
          <a:lstStyle/>
          <a:p>
            <a:pPr>
              <a:defRPr sz="700" b="0" i="0" u="none" strike="noStrike">
                <a:solidFill>
                  <a:srgbClr val="141A45"/>
                </a:solidFill>
                <a:latin typeface="Arial"/>
              </a:defRPr>
            </a:pPr>
            <a:endParaRPr lang="en-US"/>
          </a:p>
        </c:txPr>
        <c:crossAx val="209473101"/>
        <c:crosses val="autoZero"/>
        <c:auto val="1"/>
        <c:lblAlgn val="ctr"/>
        <c:lblOffset val="100"/>
        <c:noMultiLvlLbl val="1"/>
      </c:catAx>
      <c:valAx>
        <c:axId val="209473101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209473100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Curva ROC (split de validación) — AUC = 0.8667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Modelo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Sheet1!$A$2:$A$13</c:f>
              <c:numCache>
                <c:formatCode>0.0000</c:formatCode>
                <c:ptCount val="12"/>
                <c:pt idx="0">
                  <c:v>0</c:v>
                </c:pt>
                <c:pt idx="1">
                  <c:v>7.7000000000000002E-3</c:v>
                </c:pt>
                <c:pt idx="2">
                  <c:v>1.8599999999999998E-2</c:v>
                </c:pt>
                <c:pt idx="3">
                  <c:v>3.3300000000000003E-2</c:v>
                </c:pt>
                <c:pt idx="4">
                  <c:v>5.28E-2</c:v>
                </c:pt>
                <c:pt idx="5">
                  <c:v>7.6399999999999996E-2</c:v>
                </c:pt>
                <c:pt idx="6">
                  <c:v>0.113</c:v>
                </c:pt>
                <c:pt idx="7">
                  <c:v>0.1653</c:v>
                </c:pt>
                <c:pt idx="8">
                  <c:v>0.23530000000000001</c:v>
                </c:pt>
                <c:pt idx="9">
                  <c:v>0.34389999999999998</c:v>
                </c:pt>
                <c:pt idx="10">
                  <c:v>0.53800000000000003</c:v>
                </c:pt>
                <c:pt idx="11">
                  <c:v>1</c:v>
                </c:pt>
              </c:numCache>
            </c:numRef>
          </c:xVal>
          <c:yVal>
            <c:numRef>
              <c:f>Sheet1!$B$2:$B$13</c:f>
              <c:numCache>
                <c:formatCode>0.0000</c:formatCode>
                <c:ptCount val="12"/>
                <c:pt idx="0">
                  <c:v>0</c:v>
                </c:pt>
                <c:pt idx="1">
                  <c:v>0.1759</c:v>
                </c:pt>
                <c:pt idx="2">
                  <c:v>0.29849999999999999</c:v>
                </c:pt>
                <c:pt idx="3">
                  <c:v>0.41120000000000001</c:v>
                </c:pt>
                <c:pt idx="4">
                  <c:v>0.50129999999999997</c:v>
                </c:pt>
                <c:pt idx="5">
                  <c:v>0.58679999999999999</c:v>
                </c:pt>
                <c:pt idx="6">
                  <c:v>0.66190000000000004</c:v>
                </c:pt>
                <c:pt idx="7">
                  <c:v>0.73499999999999999</c:v>
                </c:pt>
                <c:pt idx="8">
                  <c:v>0.8075</c:v>
                </c:pt>
                <c:pt idx="9">
                  <c:v>0.87729999999999997</c:v>
                </c:pt>
                <c:pt idx="10">
                  <c:v>0.94710000000000005</c:v>
                </c:pt>
                <c:pt idx="1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D59-1E41-82CF-24443088A5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Aleatorio</c:v>
                </c:pt>
              </c:strCache>
            </c:strRef>
          </c:tx>
          <c:spPr>
            <a:ln w="38100" cap="flat">
              <a:solidFill>
                <a:srgbClr val="B9C2DE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D59-1E41-82CF-24443088A5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2E7F2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F7F9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Gini mensual — cosecha de monitoreo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Gini mensual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41A45"/>
                    </a:solidFill>
                    <a:latin typeface="Arial"/>
                  </a:defRPr>
                </a:pPr>
                <a:endParaRPr lang="en-P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2025-07</c:v>
                </c:pt>
                <c:pt idx="1">
                  <c:v>2025-08</c:v>
                </c:pt>
                <c:pt idx="2">
                  <c:v>2025-09</c:v>
                </c:pt>
                <c:pt idx="3">
                  <c:v>2025-10</c:v>
                </c:pt>
                <c:pt idx="4">
                  <c:v>2025-11</c:v>
                </c:pt>
                <c:pt idx="5">
                  <c:v>2025-12</c:v>
                </c:pt>
                <c:pt idx="6">
                  <c:v>2026-01</c:v>
                </c:pt>
                <c:pt idx="7">
                  <c:v>2026-02</c:v>
                </c:pt>
                <c:pt idx="8">
                  <c:v>2026-03</c:v>
                </c:pt>
                <c:pt idx="9">
                  <c:v>2026-04</c:v>
                </c:pt>
                <c:pt idx="10">
                  <c:v>2026-05</c:v>
                </c:pt>
                <c:pt idx="11">
                  <c:v>2026-06</c:v>
                </c:pt>
              </c:strCache>
            </c:strRef>
          </c:cat>
          <c:val>
            <c:numRef>
              <c:f>Sheet1!$B$2:$B$13</c:f>
              <c:numCache>
                <c:formatCode>0.00</c:formatCode>
                <c:ptCount val="12"/>
                <c:pt idx="0">
                  <c:v>0.7</c:v>
                </c:pt>
                <c:pt idx="1">
                  <c:v>0.7</c:v>
                </c:pt>
                <c:pt idx="2">
                  <c:v>0.69</c:v>
                </c:pt>
                <c:pt idx="3">
                  <c:v>0.68</c:v>
                </c:pt>
                <c:pt idx="4">
                  <c:v>0.69</c:v>
                </c:pt>
                <c:pt idx="5">
                  <c:v>0.67</c:v>
                </c:pt>
                <c:pt idx="6">
                  <c:v>0.67</c:v>
                </c:pt>
                <c:pt idx="7">
                  <c:v>0.7</c:v>
                </c:pt>
                <c:pt idx="8">
                  <c:v>0.68</c:v>
                </c:pt>
                <c:pt idx="9">
                  <c:v>0.66</c:v>
                </c:pt>
                <c:pt idx="10">
                  <c:v>0.7</c:v>
                </c:pt>
                <c:pt idx="11">
                  <c:v>0.7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50A-C246-8CA2-28229C67767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.5"/>
        </c:scaling>
        <c:delete val="0"/>
        <c:axPos val="l"/>
        <c:majorGridlines>
          <c:spPr>
            <a:ln w="12700" cap="flat">
              <a:solidFill>
                <a:srgbClr val="E2E7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E2761"/>
                </a:solidFill>
                <a:latin typeface="Calibri"/>
              </a:rPr>
              <a:t>Bad rate observado vs. PD promedio predicha — por periodo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Bad rate observado</c:v>
                </c:pt>
              </c:strCache>
            </c:strRef>
          </c:tx>
          <c:spPr>
            <a:ln w="31750" cap="flat">
              <a:solidFill>
                <a:srgbClr val="C9A227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Baseline</c:v>
                </c:pt>
                <c:pt idx="1">
                  <c:v>2025-07</c:v>
                </c:pt>
                <c:pt idx="2">
                  <c:v>2025-08</c:v>
                </c:pt>
                <c:pt idx="3">
                  <c:v>2025-09</c:v>
                </c:pt>
                <c:pt idx="4">
                  <c:v>2025-10</c:v>
                </c:pt>
                <c:pt idx="5">
                  <c:v>2025-11</c:v>
                </c:pt>
                <c:pt idx="6">
                  <c:v>2025-12</c:v>
                </c:pt>
                <c:pt idx="7">
                  <c:v>2026-01</c:v>
                </c:pt>
                <c:pt idx="8">
                  <c:v>2026-02</c:v>
                </c:pt>
                <c:pt idx="9">
                  <c:v>2026-03</c:v>
                </c:pt>
                <c:pt idx="10">
                  <c:v>2026-04</c:v>
                </c:pt>
                <c:pt idx="11">
                  <c:v>2026-05</c:v>
                </c:pt>
                <c:pt idx="12">
                  <c:v>2026-06</c:v>
                </c:pt>
              </c:strCache>
            </c:strRef>
          </c:cat>
          <c:val>
            <c:numRef>
              <c:f>Sheet1!$B$2:$B$14</c:f>
              <c:numCache>
                <c:formatCode>0.00</c:formatCode>
                <c:ptCount val="13"/>
                <c:pt idx="0">
                  <c:v>6.68</c:v>
                </c:pt>
                <c:pt idx="1">
                  <c:v>11.32</c:v>
                </c:pt>
                <c:pt idx="2">
                  <c:v>10.6</c:v>
                </c:pt>
                <c:pt idx="3">
                  <c:v>11.29</c:v>
                </c:pt>
                <c:pt idx="4">
                  <c:v>10.86</c:v>
                </c:pt>
                <c:pt idx="5">
                  <c:v>10.92</c:v>
                </c:pt>
                <c:pt idx="6">
                  <c:v>10.88</c:v>
                </c:pt>
                <c:pt idx="7">
                  <c:v>11.66</c:v>
                </c:pt>
                <c:pt idx="8">
                  <c:v>11.19</c:v>
                </c:pt>
                <c:pt idx="9">
                  <c:v>11.16</c:v>
                </c:pt>
                <c:pt idx="10">
                  <c:v>11.05</c:v>
                </c:pt>
                <c:pt idx="11">
                  <c:v>11.28</c:v>
                </c:pt>
                <c:pt idx="12">
                  <c:v>11.03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041-624F-AA10-B2B78BA50C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PD promedio predicha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Baseline</c:v>
                </c:pt>
                <c:pt idx="1">
                  <c:v>2025-07</c:v>
                </c:pt>
                <c:pt idx="2">
                  <c:v>2025-08</c:v>
                </c:pt>
                <c:pt idx="3">
                  <c:v>2025-09</c:v>
                </c:pt>
                <c:pt idx="4">
                  <c:v>2025-10</c:v>
                </c:pt>
                <c:pt idx="5">
                  <c:v>2025-11</c:v>
                </c:pt>
                <c:pt idx="6">
                  <c:v>2025-12</c:v>
                </c:pt>
                <c:pt idx="7">
                  <c:v>2026-01</c:v>
                </c:pt>
                <c:pt idx="8">
                  <c:v>2026-02</c:v>
                </c:pt>
                <c:pt idx="9">
                  <c:v>2026-03</c:v>
                </c:pt>
                <c:pt idx="10">
                  <c:v>2026-04</c:v>
                </c:pt>
                <c:pt idx="11">
                  <c:v>2026-05</c:v>
                </c:pt>
                <c:pt idx="12">
                  <c:v>2026-06</c:v>
                </c:pt>
              </c:strCache>
            </c:strRef>
          </c:cat>
          <c:val>
            <c:numRef>
              <c:f>Sheet1!$C$2:$C$14</c:f>
              <c:numCache>
                <c:formatCode>0.00</c:formatCode>
                <c:ptCount val="13"/>
                <c:pt idx="0">
                  <c:v>6.66</c:v>
                </c:pt>
                <c:pt idx="1">
                  <c:v>6.71</c:v>
                </c:pt>
                <c:pt idx="2">
                  <c:v>6.84</c:v>
                </c:pt>
                <c:pt idx="3">
                  <c:v>6.74</c:v>
                </c:pt>
                <c:pt idx="4">
                  <c:v>6.47</c:v>
                </c:pt>
                <c:pt idx="5">
                  <c:v>6.69</c:v>
                </c:pt>
                <c:pt idx="6">
                  <c:v>6.59</c:v>
                </c:pt>
                <c:pt idx="7">
                  <c:v>6.8</c:v>
                </c:pt>
                <c:pt idx="8">
                  <c:v>6.72</c:v>
                </c:pt>
                <c:pt idx="9">
                  <c:v>6.55</c:v>
                </c:pt>
                <c:pt idx="10">
                  <c:v>6.63</c:v>
                </c:pt>
                <c:pt idx="11">
                  <c:v>6.72</c:v>
                </c:pt>
                <c:pt idx="12">
                  <c:v>6.74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41-624F-AA10-B2B78BA50C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 vert="horz"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2E7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000000"/>
                    </a:solidFill>
                    <a:latin typeface="Arial"/>
                  </a:rPr>
                  <a:t>%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150" b="0" i="0" u="none" strike="noStrike">
                <a:solidFill>
                  <a:srgbClr val="1E2761"/>
                </a:solidFill>
                <a:latin typeface="Calibri"/>
              </a:rPr>
              <a:t>Tasa de default: observada vs. predicha ± IC Vasicek 95% (por decil)</a:t>
            </a:r>
          </a:p>
        </c:rich>
      </c:tx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Sheet1!$D$2:$D$11</c:f>
              <c:numCache>
                <c:formatCode>0.00</c:formatCode>
                <c:ptCount val="10"/>
                <c:pt idx="0">
                  <c:v>0.01</c:v>
                </c:pt>
                <c:pt idx="1">
                  <c:v>0.02</c:v>
                </c:pt>
                <c:pt idx="2">
                  <c:v>0.04</c:v>
                </c:pt>
                <c:pt idx="3">
                  <c:v>0.13</c:v>
                </c:pt>
                <c:pt idx="4">
                  <c:v>0.2</c:v>
                </c:pt>
                <c:pt idx="5">
                  <c:v>0.46</c:v>
                </c:pt>
                <c:pt idx="6">
                  <c:v>1</c:v>
                </c:pt>
                <c:pt idx="7">
                  <c:v>2.52</c:v>
                </c:pt>
                <c:pt idx="8">
                  <c:v>5.75</c:v>
                </c:pt>
                <c:pt idx="9">
                  <c:v>25.02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BD-CD44-AAC4-FF1AFCA2B47B}"/>
            </c:ext>
          </c:extLst>
        </c:ser>
        <c:ser>
          <c:idx val="1"/>
          <c:order val="1"/>
          <c:tx>
            <c:strRef>
              <c:f>Sheet1!$E$1</c:f>
              <c:strCache>
                <c:ptCount val="1"/>
                <c:pt idx="0">
                  <c:v>Intervalo Vasicek (95%)</c:v>
                </c:pt>
              </c:strCache>
            </c:strRef>
          </c:tx>
          <c:spPr>
            <a:solidFill>
              <a:srgbClr val="6FA8DC">
                <a:alpha val="28000"/>
              </a:srgbClr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Sheet1!$E$2:$E$11</c:f>
              <c:numCache>
                <c:formatCode>0.00</c:formatCode>
                <c:ptCount val="10"/>
                <c:pt idx="0">
                  <c:v>1.85</c:v>
                </c:pt>
                <c:pt idx="1">
                  <c:v>2.6</c:v>
                </c:pt>
                <c:pt idx="2">
                  <c:v>3.33</c:v>
                </c:pt>
                <c:pt idx="3">
                  <c:v>4.91</c:v>
                </c:pt>
                <c:pt idx="4">
                  <c:v>5.61</c:v>
                </c:pt>
                <c:pt idx="5">
                  <c:v>7.09</c:v>
                </c:pt>
                <c:pt idx="6">
                  <c:v>8.5</c:v>
                </c:pt>
                <c:pt idx="7">
                  <c:v>10.49</c:v>
                </c:pt>
                <c:pt idx="8">
                  <c:v>13.73</c:v>
                </c:pt>
                <c:pt idx="9">
                  <c:v>25.6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BD-CD44-AAC4-FF1AFCA2B4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lineChart>
        <c:grouping val="standard"/>
        <c:varyColors val="0"/>
        <c:ser>
          <c:idx val="2"/>
          <c:order val="2"/>
          <c:tx>
            <c:strRef>
              <c:f>Sheet1!$B$1</c:f>
              <c:strCache>
                <c:ptCount val="1"/>
                <c:pt idx="0">
                  <c:v>Observado</c:v>
                </c:pt>
              </c:strCache>
            </c:strRef>
          </c:tx>
          <c:spPr>
            <a:ln w="31750" cap="flat">
              <a:solidFill>
                <a:srgbClr val="C9A227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Sheet1!$B$2:$B$11</c:f>
              <c:numCache>
                <c:formatCode>0.00</c:formatCode>
                <c:ptCount val="10"/>
                <c:pt idx="0">
                  <c:v>0.59</c:v>
                </c:pt>
                <c:pt idx="1">
                  <c:v>0.83</c:v>
                </c:pt>
                <c:pt idx="2">
                  <c:v>1.07</c:v>
                </c:pt>
                <c:pt idx="3">
                  <c:v>1.37</c:v>
                </c:pt>
                <c:pt idx="4">
                  <c:v>1.78</c:v>
                </c:pt>
                <c:pt idx="5">
                  <c:v>2.5299999999999998</c:v>
                </c:pt>
                <c:pt idx="6">
                  <c:v>3.96</c:v>
                </c:pt>
                <c:pt idx="7">
                  <c:v>6.42</c:v>
                </c:pt>
                <c:pt idx="8">
                  <c:v>11.31</c:v>
                </c:pt>
                <c:pt idx="9">
                  <c:v>36.450000000000003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6E-4A46-8442-DB900D048546}"/>
            </c:ext>
          </c:extLst>
        </c:ser>
        <c:ser>
          <c:idx val="3"/>
          <c:order val="3"/>
          <c:tx>
            <c:strRef>
              <c:f>Sheet1!$C$1</c:f>
              <c:strCache>
                <c:ptCount val="1"/>
                <c:pt idx="0">
                  <c:v>Predicho (calibrado)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</c:strCache>
            </c:strRef>
          </c:cat>
          <c:val>
            <c:numRef>
              <c:f>Sheet1!$C$2:$C$11</c:f>
              <c:numCache>
                <c:formatCode>0.00</c:formatCode>
                <c:ptCount val="10"/>
                <c:pt idx="0">
                  <c:v>0.38</c:v>
                </c:pt>
                <c:pt idx="1">
                  <c:v>0.57999999999999996</c:v>
                </c:pt>
                <c:pt idx="2">
                  <c:v>0.8</c:v>
                </c:pt>
                <c:pt idx="3">
                  <c:v>1.4</c:v>
                </c:pt>
                <c:pt idx="4">
                  <c:v>1.73</c:v>
                </c:pt>
                <c:pt idx="5">
                  <c:v>2.64</c:v>
                </c:pt>
                <c:pt idx="6">
                  <c:v>3.91</c:v>
                </c:pt>
                <c:pt idx="7">
                  <c:v>6.58</c:v>
                </c:pt>
                <c:pt idx="8">
                  <c:v>11.53</c:v>
                </c:pt>
                <c:pt idx="9">
                  <c:v>37.29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E6E-4A46-8442-DB900D0485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7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% Default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legend>
      <c:legendPos val="b"/>
      <c:legendEntry>
        <c:idx val="0"/>
        <c:delete val="1"/>
      </c:legendEntry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1E2761"/>
                </a:solidFill>
                <a:latin typeface="Calibri"/>
              </a:rPr>
              <a:t>ROA real por banda de riesgo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D9C-984A-B354-1F20B3A978FB}"/>
              </c:ext>
            </c:extLst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D9C-984A-B354-1F20B3A978FB}"/>
              </c:ext>
            </c:extLst>
          </c:dPt>
          <c:dPt>
            <c:idx val="2"/>
            <c:invertIfNegative val="0"/>
            <c:bubble3D val="0"/>
            <c:spPr>
              <a:solidFill>
                <a:srgbClr val="D97C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D9C-984A-B354-1F20B3A978FB}"/>
              </c:ext>
            </c:extLst>
          </c:dPt>
          <c:dPt>
            <c:idx val="3"/>
            <c:invertIfNegative val="0"/>
            <c:bubble3D val="0"/>
            <c:spPr>
              <a:solidFill>
                <a:srgbClr val="B84C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D9C-984A-B354-1F20B3A978FB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41A45"/>
                    </a:solidFill>
                    <a:latin typeface="Arial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Bajo Riesgo</c:v>
                </c:pt>
                <c:pt idx="1">
                  <c:v>Medio Riesgo</c:v>
                </c:pt>
                <c:pt idx="2">
                  <c:v>Alto Riesgo</c:v>
                </c:pt>
                <c:pt idx="3">
                  <c:v>Muy Alto Riesgo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4.7</c:v>
                </c:pt>
                <c:pt idx="1">
                  <c:v>7.4</c:v>
                </c:pt>
                <c:pt idx="2">
                  <c:v>12.9</c:v>
                </c:pt>
                <c:pt idx="3">
                  <c:v>-3.9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37-A447-90E3-585773E074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235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80B65-1B88-8D12-BCFD-14F1D0018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92F99E-F23F-4A01-0AAB-5BA8FC29D3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F11C4-A63D-C4FC-6A61-7A58A294B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32126-37E6-8DF6-059F-6ED7C5CAE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522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DE0BA-8132-575C-CA54-973427FED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AD2A6-49C9-9BDF-2954-155449733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17B727-9092-A8CC-C042-11D660B8D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C73AA-EE0A-3A6F-E2E7-7354F4E0AB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629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3" name="Shape 1"/>
          <p:cNvSpPr/>
          <p:nvPr/>
        </p:nvSpPr>
        <p:spPr>
          <a:xfrm>
            <a:off x="8869680" y="-2286000"/>
            <a:ext cx="6400800" cy="6400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4" name="Shape 2"/>
          <p:cNvSpPr/>
          <p:nvPr/>
        </p:nvSpPr>
        <p:spPr>
          <a:xfrm>
            <a:off x="10332720" y="4389120"/>
            <a:ext cx="3657600" cy="3657600"/>
          </a:xfrm>
          <a:prstGeom prst="ellipse">
            <a:avLst/>
          </a:prstGeom>
          <a:solidFill>
            <a:srgbClr val="232A5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MACHINE LEARNING · RIESGO DE CRÉDITO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Me Credit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Scoring de Riesgo Crediticio — De los datos a la decisión de negocio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Elaborado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Rodriguez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www.linkedin.com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/in/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joeldavidrodriguez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bloques, una sola historia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se presenta en dos partes: primero la construcción y validación técnica del modelo, luego su traducción en decisiones e impacto para el negocio.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9496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7" name="Text 5"/>
          <p:cNvSpPr/>
          <p:nvPr/>
        </p:nvSpPr>
        <p:spPr>
          <a:xfrm>
            <a:off x="86868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4505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8680" y="315468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0" name="Text 8"/>
          <p:cNvSpPr/>
          <p:nvPr/>
        </p:nvSpPr>
        <p:spPr>
          <a:xfrm>
            <a:off x="86868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96" dirty="0"/>
          </a:p>
        </p:txBody>
      </p:sp>
      <p:sp>
        <p:nvSpPr>
          <p:cNvPr id="11" name="Text 9"/>
          <p:cNvSpPr/>
          <p:nvPr/>
        </p:nvSpPr>
        <p:spPr>
          <a:xfrm>
            <a:off x="1325880" y="31363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objetivo y filtros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72160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3" name="Text 11"/>
          <p:cNvSpPr/>
          <p:nvPr/>
        </p:nvSpPr>
        <p:spPr>
          <a:xfrm>
            <a:off x="868680" y="3721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96" dirty="0"/>
          </a:p>
        </p:txBody>
      </p:sp>
      <p:sp>
        <p:nvSpPr>
          <p:cNvPr id="14" name="Text 12"/>
          <p:cNvSpPr/>
          <p:nvPr/>
        </p:nvSpPr>
        <p:spPr>
          <a:xfrm>
            <a:off x="1325880" y="3703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metodología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2885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6" name="Text 14"/>
          <p:cNvSpPr/>
          <p:nvPr/>
        </p:nvSpPr>
        <p:spPr>
          <a:xfrm>
            <a:off x="868680" y="4288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96" dirty="0"/>
          </a:p>
        </p:txBody>
      </p:sp>
      <p:sp>
        <p:nvSpPr>
          <p:cNvPr id="17" name="Text 15"/>
          <p:cNvSpPr/>
          <p:nvPr/>
        </p:nvSpPr>
        <p:spPr>
          <a:xfrm>
            <a:off x="1325880" y="42702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 interpretabilidad (SHAP)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85546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9" name="Text 17"/>
          <p:cNvSpPr/>
          <p:nvPr/>
        </p:nvSpPr>
        <p:spPr>
          <a:xfrm>
            <a:off x="868680" y="4855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96" dirty="0"/>
          </a:p>
        </p:txBody>
      </p:sp>
      <p:sp>
        <p:nvSpPr>
          <p:cNvPr id="20" name="Text 18"/>
          <p:cNvSpPr/>
          <p:nvPr/>
        </p:nvSpPr>
        <p:spPr>
          <a:xfrm>
            <a:off x="1325880" y="48371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 y calibración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542239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2" name="Text 20"/>
          <p:cNvSpPr/>
          <p:nvPr/>
        </p:nvSpPr>
        <p:spPr>
          <a:xfrm>
            <a:off x="868680" y="5422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96" dirty="0"/>
          </a:p>
        </p:txBody>
      </p:sp>
      <p:sp>
        <p:nvSpPr>
          <p:cNvPr id="23" name="Text 21"/>
          <p:cNvSpPr/>
          <p:nvPr/>
        </p:nvSpPr>
        <p:spPr>
          <a:xfrm>
            <a:off x="1325880" y="54041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(Gini mensual) y backtest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210312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25" name="Shape 23"/>
          <p:cNvSpPr/>
          <p:nvPr/>
        </p:nvSpPr>
        <p:spPr>
          <a:xfrm>
            <a:off x="6263640" y="2103120"/>
            <a:ext cx="5394960" cy="8229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6" name="Text 24"/>
          <p:cNvSpPr/>
          <p:nvPr/>
        </p:nvSpPr>
        <p:spPr>
          <a:xfrm>
            <a:off x="658368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24505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Negocio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583680" y="315468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9" name="Text 27"/>
          <p:cNvSpPr/>
          <p:nvPr/>
        </p:nvSpPr>
        <p:spPr>
          <a:xfrm>
            <a:off x="658368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96" dirty="0"/>
          </a:p>
        </p:txBody>
      </p:sp>
      <p:sp>
        <p:nvSpPr>
          <p:cNvPr id="30" name="Text 28"/>
          <p:cNvSpPr/>
          <p:nvPr/>
        </p:nvSpPr>
        <p:spPr>
          <a:xfrm>
            <a:off x="7040880" y="31363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score a política de decisión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83680" y="3721608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32" name="Text 30"/>
          <p:cNvSpPr/>
          <p:nvPr/>
        </p:nvSpPr>
        <p:spPr>
          <a:xfrm>
            <a:off x="6583680" y="3721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96" dirty="0"/>
          </a:p>
        </p:txBody>
      </p:sp>
      <p:sp>
        <p:nvSpPr>
          <p:cNvPr id="33" name="Text 31"/>
          <p:cNvSpPr/>
          <p:nvPr/>
        </p:nvSpPr>
        <p:spPr>
          <a:xfrm>
            <a:off x="7040880" y="3703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clave en lenguaje de negocio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83680" y="4288536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35" name="Text 33"/>
          <p:cNvSpPr/>
          <p:nvPr/>
        </p:nvSpPr>
        <p:spPr>
          <a:xfrm>
            <a:off x="6583680" y="4288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96" dirty="0"/>
          </a:p>
        </p:txBody>
      </p:sp>
      <p:sp>
        <p:nvSpPr>
          <p:cNvPr id="36" name="Text 34"/>
          <p:cNvSpPr/>
          <p:nvPr/>
        </p:nvSpPr>
        <p:spPr>
          <a:xfrm>
            <a:off x="7040880" y="42702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económico (ROA)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583680" y="4855464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38" name="Text 36"/>
          <p:cNvSpPr/>
          <p:nvPr/>
        </p:nvSpPr>
        <p:spPr>
          <a:xfrm>
            <a:off x="6583680" y="4855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96" dirty="0"/>
          </a:p>
        </p:txBody>
      </p:sp>
      <p:sp>
        <p:nvSpPr>
          <p:cNvPr id="39" name="Text 37"/>
          <p:cNvSpPr/>
          <p:nvPr/>
        </p:nvSpPr>
        <p:spPr>
          <a:xfrm>
            <a:off x="7040880" y="48371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escenarios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583680" y="5422392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41" name="Text 39"/>
          <p:cNvSpPr/>
          <p:nvPr/>
        </p:nvSpPr>
        <p:spPr>
          <a:xfrm>
            <a:off x="6583680" y="5422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96" dirty="0"/>
          </a:p>
        </p:txBody>
      </p:sp>
      <p:sp>
        <p:nvSpPr>
          <p:cNvPr id="42" name="Text 40"/>
          <p:cNvSpPr/>
          <p:nvPr/>
        </p:nvSpPr>
        <p:spPr>
          <a:xfrm>
            <a:off x="7040880" y="54041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e implementación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3" name="Shape 1"/>
          <p:cNvSpPr/>
          <p:nvPr/>
        </p:nvSpPr>
        <p:spPr>
          <a:xfrm>
            <a:off x="-2743200" y="246888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4" name="Text 2"/>
          <p:cNvSpPr/>
          <p:nvPr/>
        </p:nvSpPr>
        <p:spPr>
          <a:xfrm>
            <a:off x="1097280" y="2651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DE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30175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 Técnico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" y="4069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construyó, validó y calibró el modelo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TÉCNICO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 de datos y descripción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entrenamiento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8" name="Text 6"/>
          <p:cNvSpPr/>
          <p:nvPr/>
        </p:nvSpPr>
        <p:spPr>
          <a:xfrm>
            <a:off x="3337560" y="17373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74720" y="2331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predictoras (buró + comportamiento)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1" name="Text 9"/>
          <p:cNvSpPr/>
          <p:nvPr/>
        </p:nvSpPr>
        <p:spPr>
          <a:xfrm>
            <a:off x="6126480" y="17373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~6.7%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63640" y="2331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default en la muestra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4" name="Text 12"/>
          <p:cNvSpPr/>
          <p:nvPr/>
        </p:nvSpPr>
        <p:spPr>
          <a:xfrm>
            <a:off x="8915400" y="17373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/ 30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52560" y="2331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train / test estratificado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disponibles (grupos principales)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18" name="Shape 16"/>
          <p:cNvSpPr/>
          <p:nvPr/>
        </p:nvSpPr>
        <p:spPr>
          <a:xfrm>
            <a:off x="749808" y="405993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9" name="Text 17"/>
          <p:cNvSpPr/>
          <p:nvPr/>
        </p:nvSpPr>
        <p:spPr>
          <a:xfrm>
            <a:off x="749808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88" dirty="0"/>
          </a:p>
        </p:txBody>
      </p:sp>
      <p:sp>
        <p:nvSpPr>
          <p:cNvPr id="20" name="Text 18"/>
          <p:cNvSpPr/>
          <p:nvPr/>
        </p:nvSpPr>
        <p:spPr>
          <a:xfrm>
            <a:off x="1325880" y="39136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Utilización de crédito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422452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línea revolvente utilizada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45352" y="384048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23" name="Shape 21"/>
          <p:cNvSpPr/>
          <p:nvPr/>
        </p:nvSpPr>
        <p:spPr>
          <a:xfrm>
            <a:off x="6446520" y="4059936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4" name="Text 22"/>
          <p:cNvSpPr/>
          <p:nvPr/>
        </p:nvSpPr>
        <p:spPr>
          <a:xfrm>
            <a:off x="6446520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88" dirty="0"/>
          </a:p>
        </p:txBody>
      </p:sp>
      <p:sp>
        <p:nvSpPr>
          <p:cNvPr id="25" name="Text 23"/>
          <p:cNvSpPr/>
          <p:nvPr/>
        </p:nvSpPr>
        <p:spPr>
          <a:xfrm>
            <a:off x="7022592" y="39136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Morosidad histórica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22592" y="422452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de veces con atraso 30-59 / 60-89 / 90+ días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873752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28" name="Shape 26"/>
          <p:cNvSpPr/>
          <p:nvPr/>
        </p:nvSpPr>
        <p:spPr>
          <a:xfrm>
            <a:off x="749808" y="509320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9" name="Text 27"/>
          <p:cNvSpPr/>
          <p:nvPr/>
        </p:nvSpPr>
        <p:spPr>
          <a:xfrm>
            <a:off x="749808" y="5093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88" dirty="0"/>
          </a:p>
        </p:txBody>
      </p:sp>
      <p:sp>
        <p:nvSpPr>
          <p:cNvPr id="30" name="Text 28"/>
          <p:cNvSpPr/>
          <p:nvPr/>
        </p:nvSpPr>
        <p:spPr>
          <a:xfrm>
            <a:off x="1325880" y="494690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deuda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25880" y="52578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deuda/ingreso, líneas abiertas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45352" y="4873752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33" name="Shape 31"/>
          <p:cNvSpPr/>
          <p:nvPr/>
        </p:nvSpPr>
        <p:spPr>
          <a:xfrm>
            <a:off x="6446520" y="5093208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34" name="Text 32"/>
          <p:cNvSpPr/>
          <p:nvPr/>
        </p:nvSpPr>
        <p:spPr>
          <a:xfrm>
            <a:off x="6446520" y="5093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88" dirty="0"/>
          </a:p>
        </p:txBody>
      </p:sp>
      <p:sp>
        <p:nvSpPr>
          <p:cNvPr id="35" name="Text 33"/>
          <p:cNvSpPr/>
          <p:nvPr/>
        </p:nvSpPr>
        <p:spPr>
          <a:xfrm>
            <a:off x="7022592" y="494690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demográfico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22592" y="52578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Edad, dependientes, propiedades inmobiliarias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TÉCNICO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y pipeline de modelamiento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121408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5" name="Text 3"/>
          <p:cNvSpPr/>
          <p:nvPr/>
        </p:nvSpPr>
        <p:spPr>
          <a:xfrm>
            <a:off x="713232" y="2359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3232" y="288036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3337560"/>
            <a:ext cx="18013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distribuciones, correlaciones y calidad de dato.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3474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79776" y="2194560"/>
            <a:ext cx="2121408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0" name="Text 8"/>
          <p:cNvSpPr/>
          <p:nvPr/>
        </p:nvSpPr>
        <p:spPr>
          <a:xfrm>
            <a:off x="2944368" y="2359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944368" y="288036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44368" y="3337560"/>
            <a:ext cx="18013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outliers y winsorización de variables.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82896" y="3474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10912" y="2194560"/>
            <a:ext cx="2121408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5" name="Text 13"/>
          <p:cNvSpPr/>
          <p:nvPr/>
        </p:nvSpPr>
        <p:spPr>
          <a:xfrm>
            <a:off x="5175504" y="2359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75504" y="288036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75504" y="3337560"/>
            <a:ext cx="18013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Binning y Log-Odds Rolling Smoothing, ratios derivados y transformaciones.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14032" y="3474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242048" y="2194560"/>
            <a:ext cx="2121408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20" name="Text 18"/>
          <p:cNvSpPr/>
          <p:nvPr/>
        </p:nvSpPr>
        <p:spPr>
          <a:xfrm>
            <a:off x="7406640" y="2359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406640" y="288036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Partición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06640" y="3337560"/>
            <a:ext cx="18013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/ Out-of-Time (OOT) estratificados.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45168" y="3474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73184" y="2194560"/>
            <a:ext cx="2121408" cy="310896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25" name="Text 23"/>
          <p:cNvSpPr/>
          <p:nvPr/>
        </p:nvSpPr>
        <p:spPr>
          <a:xfrm>
            <a:off x="9637776" y="2359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637776" y="288036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Modelado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37776" y="3337560"/>
            <a:ext cx="18013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y comparación de algoritmos candidatos.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final seleccionado por desempeño e interpretabilidad: CatBoost, elegido frente a 6 algoritmos comparados.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C58F9-2E04-769D-0678-546F6E0B9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B399F2-9E00-2725-F75C-34FEA0DC99B7}"/>
              </a:ext>
            </a:extLst>
          </p:cNvPr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TÉCNICO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27ABC8-3779-6B82-E0E6-02525B0D2DF8}"/>
              </a:ext>
            </a:extLst>
          </p:cNvPr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Elección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del </a:t>
            </a:r>
            <a:r>
              <a:rPr lang="en-US" sz="32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</a:t>
            </a:r>
            <a:endParaRPr lang="en-US" sz="3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73B31FB-44C1-992F-2749-7EBEA10BAA67}"/>
              </a:ext>
            </a:extLst>
          </p:cNvPr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AUC (cross-validation) entre los 6 algoritmos evaluados en 03_training_model.ipynb.</a:t>
            </a:r>
            <a:endParaRPr lang="en-US" sz="12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EF73A4A-532F-20A1-5094-CD8293DCDCE8}"/>
              </a:ext>
            </a:extLst>
          </p:cNvPr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DA06E1D-BDC5-1C83-3D17-F6D4A7AB164D}"/>
              </a:ext>
            </a:extLst>
          </p:cNvPr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100" name="Chart 99"/>
          <p:cNvGraphicFramePr/>
          <p:nvPr/>
        </p:nvGraphicFramePr>
        <p:xfrm>
          <a:off x="548640" y="1874520"/>
          <a:ext cx="65836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1" name="Shape 100"/>
          <p:cNvSpPr/>
          <p:nvPr/>
        </p:nvSpPr>
        <p:spPr>
          <a:xfrm>
            <a:off x="7406640" y="1874520"/>
            <a:ext cx="4206240" cy="429768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02" name="Text 101"/>
          <p:cNvSpPr/>
          <p:nvPr/>
        </p:nvSpPr>
        <p:spPr>
          <a:xfrm>
            <a:off x="7680960" y="2084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CatBoost</a:t>
            </a:r>
            <a:endParaRPr lang="en-US" sz="1500" dirty="0"/>
          </a:p>
        </p:txBody>
      </p:sp>
      <p:sp>
        <p:nvSpPr>
          <p:cNvPr id="103" name="Shape 102"/>
          <p:cNvSpPr/>
          <p:nvPr/>
        </p:nvSpPr>
        <p:spPr>
          <a:xfrm>
            <a:off x="7680960" y="266090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04" name="Text 103"/>
          <p:cNvSpPr/>
          <p:nvPr/>
        </p:nvSpPr>
        <p:spPr>
          <a:xfrm>
            <a:off x="7909560" y="25146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 alcanzó un AUC (CV) de 0.825 — competitivo e interpretable, pero no fue el modelo elegido.</a:t>
            </a:r>
            <a:endParaRPr lang="en-US" sz="1150" dirty="0"/>
          </a:p>
        </p:txBody>
      </p:sp>
      <p:sp>
        <p:nvSpPr>
          <p:cNvPr id="105" name="Shape 104"/>
          <p:cNvSpPr/>
          <p:nvPr/>
        </p:nvSpPr>
        <p:spPr>
          <a:xfrm>
            <a:off x="7680960" y="352958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06" name="Text 105"/>
          <p:cNvSpPr/>
          <p:nvPr/>
        </p:nvSpPr>
        <p:spPr>
          <a:xfrm>
            <a:off x="7909560" y="33832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(0.864) y LightGBM (0.865) tuvieron mejor poder predictivo en la comparación de 6 modelos evaluados.</a:t>
            </a:r>
            <a:endParaRPr lang="en-US" sz="1150" dirty="0"/>
          </a:p>
        </p:txBody>
      </p:sp>
      <p:sp>
        <p:nvSpPr>
          <p:cNvPr id="107" name="Shape 106"/>
          <p:cNvSpPr/>
          <p:nvPr/>
        </p:nvSpPr>
        <p:spPr>
          <a:xfrm>
            <a:off x="7680960" y="439826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08" name="Text 107"/>
          <p:cNvSpPr/>
          <p:nvPr/>
        </p:nvSpPr>
        <p:spPr>
          <a:xfrm>
            <a:off x="7909560" y="4251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se seleccionó como campeón de producción por su balance entre desempeño e interpretabilidad (soporte nativo de SHAP).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376053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TÉCNICO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 variables e interpretabilidad (SHAP)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variables mueven el modelo y por qué.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74520"/>
          <a:ext cx="65836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2294243"/>
            <a:ext cx="4206240" cy="3401568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7" name="Text 4"/>
          <p:cNvSpPr/>
          <p:nvPr/>
        </p:nvSpPr>
        <p:spPr>
          <a:xfrm>
            <a:off x="7680960" y="2504555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del SHAP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680960" y="3080627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9" name="Text 6"/>
          <p:cNvSpPr/>
          <p:nvPr/>
        </p:nvSpPr>
        <p:spPr>
          <a:xfrm>
            <a:off x="7909560" y="2934323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mayor utilización de la línea, mayor probabilidad de default (dirección positiva y consistente).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680960" y="3949307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1" name="Text 8"/>
          <p:cNvSpPr/>
          <p:nvPr/>
        </p:nvSpPr>
        <p:spPr>
          <a:xfrm>
            <a:off x="7909560" y="3803003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atrasos de 30-59 días son el segundo driver más fuerte del score, seguidos por atrasos de 90+ y 60-89 días.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80960" y="4817987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3" name="Text 10"/>
          <p:cNvSpPr/>
          <p:nvPr/>
        </p:nvSpPr>
        <p:spPr>
          <a:xfrm>
            <a:off x="7909560" y="4671683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efecto de la edad es no lineal: clientes jóvenes concentran mayor riesgo relativo.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532FF-7DA2-67E8-7E2D-7AB95085B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0A411E-58B5-908E-041F-5849E50C974A}"/>
              </a:ext>
            </a:extLst>
          </p:cNvPr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TÉCNICO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67FBF04-0C45-BC5A-A122-3392CC807B1A}"/>
              </a:ext>
            </a:extLst>
          </p:cNvPr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E2761"/>
                </a:solidFill>
                <a:latin typeface="Cambria" pitchFamily="34" charset="0"/>
              </a:rPr>
              <a:t>Simulación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</a:rPr>
              <a:t> para </a:t>
            </a:r>
            <a:r>
              <a:rPr lang="en-US" sz="3200" b="1" dirty="0" err="1">
                <a:solidFill>
                  <a:srgbClr val="1E2761"/>
                </a:solidFill>
                <a:latin typeface="Cambria" pitchFamily="34" charset="0"/>
              </a:rPr>
              <a:t>diferentes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</a:rPr>
              <a:t> </a:t>
            </a:r>
            <a:r>
              <a:rPr lang="en-US" sz="3200" b="1" dirty="0" err="1">
                <a:solidFill>
                  <a:srgbClr val="1E2761"/>
                </a:solidFill>
                <a:latin typeface="Cambria" pitchFamily="34" charset="0"/>
              </a:rPr>
              <a:t>tipos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</a:rPr>
              <a:t> de </a:t>
            </a:r>
            <a:r>
              <a:rPr lang="en-US" sz="3200" b="1" dirty="0" err="1">
                <a:solidFill>
                  <a:srgbClr val="1E2761"/>
                </a:solidFill>
                <a:latin typeface="Cambria" pitchFamily="34" charset="0"/>
              </a:rPr>
              <a:t>clientes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D0B7C5-BB10-388F-D8BF-C129E5B74D96}"/>
              </a:ext>
            </a:extLst>
          </p:cNvPr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features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importantes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999F414-0469-8580-B27F-1D9C47C8710A}"/>
              </a:ext>
            </a:extLst>
          </p:cNvPr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DF568066-9442-1A0E-74E5-176BF1CC6E71}"/>
              </a:ext>
            </a:extLst>
          </p:cNvPr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00" name="Card0Shape4"/>
          <p:cNvSpPr/>
          <p:nvPr/>
        </p:nvSpPr>
        <p:spPr>
          <a:xfrm>
            <a:off x="548640" y="1737360"/>
            <a:ext cx="3566160" cy="45000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201" name="Card0Shape5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02" name="Card0Shape6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03" name="Card0Shape7"/>
          <p:cNvSpPr/>
          <p:nvPr/>
        </p:nvSpPr>
        <p:spPr>
          <a:xfrm>
            <a:off x="1463040" y="2029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Bajo Riesgo</a:t>
            </a:r>
            <a:endParaRPr lang="en-US" sz="1700" dirty="0"/>
          </a:p>
        </p:txBody>
      </p:sp>
      <p:sp>
        <p:nvSpPr>
          <p:cNvPr id="204" name="Card0Shape8"/>
          <p:cNvSpPr/>
          <p:nvPr/>
        </p:nvSpPr>
        <p:spPr>
          <a:xfrm>
            <a:off x="82296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real (set de validación)</a:t>
            </a:r>
            <a:endParaRPr lang="en-US" sz="1300" dirty="0"/>
          </a:p>
        </p:txBody>
      </p:sp>
      <p:sp>
        <p:nvSpPr>
          <p:cNvPr id="205" name="Card0Shape9"/>
          <p:cNvSpPr/>
          <p:nvPr/>
        </p:nvSpPr>
        <p:spPr>
          <a:xfrm>
            <a:off x="822960" y="2971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PD: 0.60%</a:t>
            </a:r>
            <a:endParaRPr lang="en-US" sz="2200" dirty="0"/>
          </a:p>
        </p:txBody>
      </p:sp>
      <p:sp>
        <p:nvSpPr>
          <p:cNvPr id="206" name="Card0Shape10"/>
          <p:cNvSpPr/>
          <p:nvPr/>
        </p:nvSpPr>
        <p:spPr>
          <a:xfrm>
            <a:off x="822960" y="3611880"/>
            <a:ext cx="3017520" cy="0"/>
          </a:xfrm>
          <a:prstGeom prst="line">
            <a:avLst/>
          </a:prstGeom>
          <a:noFill/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208" name="Card1Shape4"/>
          <p:cNvSpPr/>
          <p:nvPr/>
        </p:nvSpPr>
        <p:spPr>
          <a:xfrm>
            <a:off x="4343400" y="1737360"/>
            <a:ext cx="3566160" cy="45000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209" name="Card1Shape5"/>
          <p:cNvSpPr/>
          <p:nvPr/>
        </p:nvSpPr>
        <p:spPr>
          <a:xfrm>
            <a:off x="4617720" y="196596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10" name="Card1Shape6"/>
          <p:cNvSpPr/>
          <p:nvPr/>
        </p:nvSpPr>
        <p:spPr>
          <a:xfrm>
            <a:off x="4617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11" name="Card1Shape7"/>
          <p:cNvSpPr/>
          <p:nvPr/>
        </p:nvSpPr>
        <p:spPr>
          <a:xfrm>
            <a:off x="5257800" y="2029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Medio Riesgo</a:t>
            </a:r>
            <a:endParaRPr lang="en-US" sz="1700" dirty="0"/>
          </a:p>
        </p:txBody>
      </p:sp>
      <p:sp>
        <p:nvSpPr>
          <p:cNvPr id="212" name="Card1Shape8"/>
          <p:cNvSpPr/>
          <p:nvPr/>
        </p:nvSpPr>
        <p:spPr>
          <a:xfrm>
            <a:off x="461772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real (set de validación)</a:t>
            </a:r>
            <a:endParaRPr lang="en-US" sz="1300" dirty="0"/>
          </a:p>
        </p:txBody>
      </p:sp>
      <p:sp>
        <p:nvSpPr>
          <p:cNvPr id="213" name="Card1Shape9"/>
          <p:cNvSpPr/>
          <p:nvPr/>
        </p:nvSpPr>
        <p:spPr>
          <a:xfrm>
            <a:off x="4617720" y="2971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PD: 2.00%</a:t>
            </a:r>
            <a:endParaRPr lang="en-US" sz="2200" dirty="0"/>
          </a:p>
        </p:txBody>
      </p:sp>
      <p:sp>
        <p:nvSpPr>
          <p:cNvPr id="214" name="Card1Shape10"/>
          <p:cNvSpPr/>
          <p:nvPr/>
        </p:nvSpPr>
        <p:spPr>
          <a:xfrm>
            <a:off x="4617720" y="3611880"/>
            <a:ext cx="3017520" cy="0"/>
          </a:xfrm>
          <a:prstGeom prst="line">
            <a:avLst/>
          </a:prstGeom>
          <a:noFill/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216" name="Card2Shape4"/>
          <p:cNvSpPr/>
          <p:nvPr/>
        </p:nvSpPr>
        <p:spPr>
          <a:xfrm>
            <a:off x="8138160" y="1737360"/>
            <a:ext cx="3566160" cy="45000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217" name="Card2Shape5"/>
          <p:cNvSpPr/>
          <p:nvPr/>
        </p:nvSpPr>
        <p:spPr>
          <a:xfrm>
            <a:off x="8412480" y="1965960"/>
            <a:ext cx="457200" cy="457200"/>
          </a:xfrm>
          <a:prstGeom prst="ellipse">
            <a:avLst/>
          </a:prstGeom>
          <a:solidFill>
            <a:srgbClr val="B84C4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18" name="Card2Shape6"/>
          <p:cNvSpPr/>
          <p:nvPr/>
        </p:nvSpPr>
        <p:spPr>
          <a:xfrm>
            <a:off x="84124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19" name="Card2Shape7"/>
          <p:cNvSpPr/>
          <p:nvPr/>
        </p:nvSpPr>
        <p:spPr>
          <a:xfrm>
            <a:off x="9052560" y="2029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Alto Riesgo</a:t>
            </a:r>
            <a:endParaRPr lang="en-US" sz="1700" dirty="0"/>
          </a:p>
        </p:txBody>
      </p:sp>
      <p:sp>
        <p:nvSpPr>
          <p:cNvPr id="220" name="Card2Shape8"/>
          <p:cNvSpPr/>
          <p:nvPr/>
        </p:nvSpPr>
        <p:spPr>
          <a:xfrm>
            <a:off x="841248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real (set de validación)</a:t>
            </a:r>
            <a:endParaRPr lang="en-US" sz="1300" dirty="0"/>
          </a:p>
        </p:txBody>
      </p:sp>
      <p:sp>
        <p:nvSpPr>
          <p:cNvPr id="221" name="Card2Shape9"/>
          <p:cNvSpPr/>
          <p:nvPr/>
        </p:nvSpPr>
        <p:spPr>
          <a:xfrm>
            <a:off x="8412480" y="2971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4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PD: 8.00%</a:t>
            </a:r>
            <a:endParaRPr lang="en-US" sz="2200" dirty="0"/>
          </a:p>
        </p:txBody>
      </p:sp>
      <p:sp>
        <p:nvSpPr>
          <p:cNvPr id="222" name="Card2Shape10"/>
          <p:cNvSpPr/>
          <p:nvPr/>
        </p:nvSpPr>
        <p:spPr>
          <a:xfrm>
            <a:off x="8412480" y="3611880"/>
            <a:ext cx="3017520" cy="0"/>
          </a:xfrm>
          <a:prstGeom prst="line">
            <a:avLst/>
          </a:prstGeom>
          <a:noFill/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graphicFrame>
        <p:nvGraphicFramePr>
          <p:cNvPr id="300" name="WaterfallChart0"/>
          <p:cNvGraphicFramePr/>
          <p:nvPr/>
        </p:nvGraphicFramePr>
        <p:xfrm>
          <a:off x="662940" y="3749040"/>
          <a:ext cx="3337560" cy="2351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01" name="WaterfallChart1"/>
          <p:cNvGraphicFramePr/>
          <p:nvPr/>
        </p:nvGraphicFramePr>
        <p:xfrm>
          <a:off x="4457700" y="3749040"/>
          <a:ext cx="3337560" cy="2351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02" name="WaterfallChart2"/>
          <p:cNvGraphicFramePr/>
          <p:nvPr/>
        </p:nvGraphicFramePr>
        <p:xfrm>
          <a:off x="8252460" y="3749040"/>
          <a:ext cx="3337560" cy="2351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134447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TÉCNICO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y métricas de desempeño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212080" cy="13716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- ROC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0" name="Table 1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492192"/>
              </p:ext>
            </p:extLst>
          </p:nvPr>
        </p:nvGraphicFramePr>
        <p:xfrm>
          <a:off x="548640" y="4754880"/>
          <a:ext cx="5212080" cy="15240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 Riesgo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 Riesgo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Riesgo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Alto Riesgo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6126480" y="169164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DECF00-92AB-E748-C344-6D28462BD667}"/>
              </a:ext>
            </a:extLst>
          </p:cNvPr>
          <p:cNvSpPr/>
          <p:nvPr/>
        </p:nvSpPr>
        <p:spPr>
          <a:xfrm>
            <a:off x="701040" y="38557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mantiene discriminación estable entre train, test y out-of-time — sin señales de sobreajuste relevante.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TÉCNICO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Estabilidad de la métrica en el tiempo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Gini no es un número fijo: se monitorea mes a mes para detectar degradación temprana del modelo.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20240"/>
          <a:ext cx="110642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7" name="Text 4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alerta: caída del Gini &gt; 10% respecto a la línea base → dispara revisión / recalibración del modelo.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TÉCNICO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entre el desempeño esperado (al momento del diseño) y el observado en un periodo posterior fuera de muestra.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057400"/>
          <a:ext cx="62179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2057400"/>
            <a:ext cx="4572000" cy="4361688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7" name="Text 4"/>
          <p:cNvSpPr/>
          <p:nvPr/>
        </p:nvSpPr>
        <p:spPr>
          <a:xfrm>
            <a:off x="7315200" y="2286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de estabilidad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por variable (rango)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0" y="3127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0.0000–0.0004 (10 variables, sin drift)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315200" y="3657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mensual (rango)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0" y="39502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0.66–0.71 (12 periodos, ranking estable)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1520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 PD media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0" y="4773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+4.4 p.p. (bad rate ~11.1% vs. PD predicha ~6.7%)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315200" y="5303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0" y="559612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drift de features y ranking (Gini) estable, pero la PD promedio predicha subestima la mora observada en ~4.4 p.p. de forma consistente — se recomienda recalibrar el modelo.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TÉCNICO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Calibración del modelo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250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</a:t>
            </a: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predicha debe reflejar la tasa de default real, porque de ahí salen pricing y provisiones.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01168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2011680"/>
            <a:ext cx="43891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7" name="Text 4"/>
          <p:cNvSpPr/>
          <p:nvPr/>
        </p:nvSpPr>
        <p:spPr>
          <a:xfrm>
            <a:off x="749808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y lectura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98080" y="299293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9" name="Text 6"/>
          <p:cNvSpPr/>
          <p:nvPr/>
        </p:nvSpPr>
        <p:spPr>
          <a:xfrm>
            <a:off x="7726680" y="265176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aplicado: Platt scaling sobre el score base.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98080" y="369672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1" name="Text 8"/>
          <p:cNvSpPr/>
          <p:nvPr/>
        </p:nvSpPr>
        <p:spPr>
          <a:xfrm>
            <a:off x="7726680" y="352044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Luego de la </a:t>
            </a:r>
            <a:r>
              <a:rPr lang="en-US" sz="1150" dirty="0" err="1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</a:t>
            </a: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 deciles caen dentro del intervalo de Vasicek (95%, ρ Basel retail) — calibración validada estadísticamente, no solo visualmente.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98080" y="464035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3" name="Text 10"/>
          <p:cNvSpPr/>
          <p:nvPr/>
        </p:nvSpPr>
        <p:spPr>
          <a:xfrm>
            <a:off x="7726680" y="43891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decil de mayor riesgo (D10) es el más sensible: revisar aquí ante recalibraciones futuras.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498080" y="550903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5" name="Text 12"/>
          <p:cNvSpPr/>
          <p:nvPr/>
        </p:nvSpPr>
        <p:spPr>
          <a:xfrm>
            <a:off x="7726680" y="525780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uso directo del score para pricing basado en riesgo y cálculo de provisiones (PD × LGD × EAD).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45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3" name="Shape 1"/>
          <p:cNvSpPr/>
          <p:nvPr/>
        </p:nvSpPr>
        <p:spPr>
          <a:xfrm>
            <a:off x="-2743200" y="246888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4" name="Text 2"/>
          <p:cNvSpPr/>
          <p:nvPr/>
        </p:nvSpPr>
        <p:spPr>
          <a:xfrm>
            <a:off x="1097280" y="2651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DE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30175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 de Negocio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" y="4069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 el modelo en decisiones y en resultados económicos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score a decisión: bandas y cutoffs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bandas son </a:t>
            </a:r>
            <a:r>
              <a:rPr lang="en-US" sz="1200" i="1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fijas</a:t>
            </a:r>
            <a:r>
              <a:rPr lang="en-US" sz="12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200" i="1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r>
              <a:rPr lang="en-US" sz="12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están calibradas en producción — ver la economía real de cada banda en la sección de impacto económico.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00" name="Banda0Shape4"/>
          <p:cNvSpPr/>
          <p:nvPr/>
        </p:nvSpPr>
        <p:spPr>
          <a:xfrm>
            <a:off x="548640" y="1737360"/>
            <a:ext cx="259461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401" name="Banda0Shape5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402" name="Banda0Shape6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50" dirty="0"/>
          </a:p>
        </p:txBody>
      </p:sp>
      <p:sp>
        <p:nvSpPr>
          <p:cNvPr id="403" name="Banda0Shape7"/>
          <p:cNvSpPr/>
          <p:nvPr/>
        </p:nvSpPr>
        <p:spPr>
          <a:xfrm>
            <a:off x="1463040" y="2029968"/>
            <a:ext cx="1405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Bajo Riesgo</a:t>
            </a:r>
            <a:endParaRPr lang="en-US" sz="1700" dirty="0"/>
          </a:p>
        </p:txBody>
      </p:sp>
      <p:sp>
        <p:nvSpPr>
          <p:cNvPr id="404" name="Banda0Shape8"/>
          <p:cNvSpPr/>
          <p:nvPr/>
        </p:nvSpPr>
        <p:spPr>
          <a:xfrm>
            <a:off x="822960" y="2606040"/>
            <a:ext cx="2045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PD</a:t>
            </a:r>
            <a:endParaRPr lang="en-US" sz="1300" dirty="0"/>
          </a:p>
        </p:txBody>
      </p:sp>
      <p:sp>
        <p:nvSpPr>
          <p:cNvPr id="405" name="Banda0Shape9"/>
          <p:cNvSpPr/>
          <p:nvPr/>
        </p:nvSpPr>
        <p:spPr>
          <a:xfrm>
            <a:off x="822960" y="2971800"/>
            <a:ext cx="2045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 ≤ 1.21%</a:t>
            </a:r>
            <a:endParaRPr lang="en-US" sz="2200" dirty="0"/>
          </a:p>
        </p:txBody>
      </p:sp>
      <p:sp>
        <p:nvSpPr>
          <p:cNvPr id="406" name="Banda0Shape10"/>
          <p:cNvSpPr/>
          <p:nvPr/>
        </p:nvSpPr>
        <p:spPr>
          <a:xfrm>
            <a:off x="822960" y="3611880"/>
            <a:ext cx="2045970" cy="0"/>
          </a:xfrm>
          <a:prstGeom prst="line">
            <a:avLst/>
          </a:prstGeom>
          <a:noFill/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407" name="Banda0Shape11"/>
          <p:cNvSpPr/>
          <p:nvPr/>
        </p:nvSpPr>
        <p:spPr>
          <a:xfrm>
            <a:off x="822960" y="3749040"/>
            <a:ext cx="20459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automática</a:t>
            </a:r>
            <a:endParaRPr lang="en-US" sz="1300" dirty="0"/>
          </a:p>
        </p:txBody>
      </p:sp>
      <p:sp>
        <p:nvSpPr>
          <p:cNvPr id="408" name="Banda1Shape4"/>
          <p:cNvSpPr/>
          <p:nvPr/>
        </p:nvSpPr>
        <p:spPr>
          <a:xfrm>
            <a:off x="3371850" y="1737360"/>
            <a:ext cx="259461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409" name="Banda1Shape5"/>
          <p:cNvSpPr/>
          <p:nvPr/>
        </p:nvSpPr>
        <p:spPr>
          <a:xfrm>
            <a:off x="3646170" y="196596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410" name="Banda1Shape6"/>
          <p:cNvSpPr/>
          <p:nvPr/>
        </p:nvSpPr>
        <p:spPr>
          <a:xfrm>
            <a:off x="364617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50" dirty="0"/>
          </a:p>
        </p:txBody>
      </p:sp>
      <p:sp>
        <p:nvSpPr>
          <p:cNvPr id="411" name="Banda1Shape7"/>
          <p:cNvSpPr/>
          <p:nvPr/>
        </p:nvSpPr>
        <p:spPr>
          <a:xfrm>
            <a:off x="4286250" y="2029968"/>
            <a:ext cx="1405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Medio Riesgo</a:t>
            </a:r>
            <a:endParaRPr lang="en-US" sz="1700" dirty="0"/>
          </a:p>
        </p:txBody>
      </p:sp>
      <p:sp>
        <p:nvSpPr>
          <p:cNvPr id="412" name="Banda1Shape8"/>
          <p:cNvSpPr/>
          <p:nvPr/>
        </p:nvSpPr>
        <p:spPr>
          <a:xfrm>
            <a:off x="3646170" y="2606040"/>
            <a:ext cx="2045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PD</a:t>
            </a:r>
            <a:endParaRPr lang="en-US" sz="1300" dirty="0"/>
          </a:p>
        </p:txBody>
      </p:sp>
      <p:sp>
        <p:nvSpPr>
          <p:cNvPr id="413" name="Banda1Shape9"/>
          <p:cNvSpPr/>
          <p:nvPr/>
        </p:nvSpPr>
        <p:spPr>
          <a:xfrm>
            <a:off x="3646170" y="2971800"/>
            <a:ext cx="2045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 ≤ 3.1%</a:t>
            </a:r>
            <a:endParaRPr lang="en-US" sz="2200" dirty="0"/>
          </a:p>
        </p:txBody>
      </p:sp>
      <p:sp>
        <p:nvSpPr>
          <p:cNvPr id="414" name="Banda1Shape10"/>
          <p:cNvSpPr/>
          <p:nvPr/>
        </p:nvSpPr>
        <p:spPr>
          <a:xfrm>
            <a:off x="3646170" y="3611880"/>
            <a:ext cx="2045970" cy="0"/>
          </a:xfrm>
          <a:prstGeom prst="line">
            <a:avLst/>
          </a:prstGeom>
          <a:noFill/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415" name="Banda1Shape11"/>
          <p:cNvSpPr/>
          <p:nvPr/>
        </p:nvSpPr>
        <p:spPr>
          <a:xfrm>
            <a:off x="3646170" y="3749040"/>
            <a:ext cx="20459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/ condiciones ajustadas</a:t>
            </a:r>
            <a:endParaRPr lang="en-US" sz="1300" dirty="0"/>
          </a:p>
        </p:txBody>
      </p:sp>
      <p:sp>
        <p:nvSpPr>
          <p:cNvPr id="416" name="Banda2Shape4"/>
          <p:cNvSpPr/>
          <p:nvPr/>
        </p:nvSpPr>
        <p:spPr>
          <a:xfrm>
            <a:off x="6195060" y="1737360"/>
            <a:ext cx="259461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417" name="Banda2Shape5"/>
          <p:cNvSpPr/>
          <p:nvPr/>
        </p:nvSpPr>
        <p:spPr>
          <a:xfrm>
            <a:off x="6469380" y="1965960"/>
            <a:ext cx="457200" cy="457200"/>
          </a:xfrm>
          <a:prstGeom prst="ellipse">
            <a:avLst/>
          </a:prstGeom>
          <a:solidFill>
            <a:srgbClr val="D97C3D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418" name="Banda2Shape6"/>
          <p:cNvSpPr/>
          <p:nvPr/>
        </p:nvSpPr>
        <p:spPr>
          <a:xfrm>
            <a:off x="64693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50" dirty="0"/>
          </a:p>
        </p:txBody>
      </p:sp>
      <p:sp>
        <p:nvSpPr>
          <p:cNvPr id="419" name="Banda2Shape7"/>
          <p:cNvSpPr/>
          <p:nvPr/>
        </p:nvSpPr>
        <p:spPr>
          <a:xfrm>
            <a:off x="7109460" y="2029968"/>
            <a:ext cx="1405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Alto Riesgo</a:t>
            </a:r>
            <a:endParaRPr lang="en-US" sz="1700" dirty="0"/>
          </a:p>
        </p:txBody>
      </p:sp>
      <p:sp>
        <p:nvSpPr>
          <p:cNvPr id="420" name="Banda2Shape8"/>
          <p:cNvSpPr/>
          <p:nvPr/>
        </p:nvSpPr>
        <p:spPr>
          <a:xfrm>
            <a:off x="6469380" y="2606040"/>
            <a:ext cx="2045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PD</a:t>
            </a:r>
            <a:endParaRPr lang="en-US" sz="1300" dirty="0"/>
          </a:p>
        </p:txBody>
      </p:sp>
      <p:sp>
        <p:nvSpPr>
          <p:cNvPr id="421" name="Banda2Shape9"/>
          <p:cNvSpPr/>
          <p:nvPr/>
        </p:nvSpPr>
        <p:spPr>
          <a:xfrm>
            <a:off x="6469380" y="2971800"/>
            <a:ext cx="2045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 ≤ 16.7%</a:t>
            </a:r>
            <a:endParaRPr lang="en-US" sz="2200" dirty="0"/>
          </a:p>
        </p:txBody>
      </p:sp>
      <p:sp>
        <p:nvSpPr>
          <p:cNvPr id="422" name="Banda2Shape10"/>
          <p:cNvSpPr/>
          <p:nvPr/>
        </p:nvSpPr>
        <p:spPr>
          <a:xfrm>
            <a:off x="6469380" y="3611880"/>
            <a:ext cx="2045970" cy="0"/>
          </a:xfrm>
          <a:prstGeom prst="line">
            <a:avLst/>
          </a:prstGeom>
          <a:noFill/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423" name="Banda2Shape11"/>
          <p:cNvSpPr/>
          <p:nvPr/>
        </p:nvSpPr>
        <p:spPr>
          <a:xfrm>
            <a:off x="6469380" y="3749040"/>
            <a:ext cx="20459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Garantías adicionales o repricing (aún rentable: ROA 12.9%)</a:t>
            </a:r>
            <a:endParaRPr lang="en-US" sz="1300" dirty="0"/>
          </a:p>
        </p:txBody>
      </p:sp>
      <p:sp>
        <p:nvSpPr>
          <p:cNvPr id="424" name="Banda3Shape4"/>
          <p:cNvSpPr/>
          <p:nvPr/>
        </p:nvSpPr>
        <p:spPr>
          <a:xfrm>
            <a:off x="9018270" y="1737360"/>
            <a:ext cx="259461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425" name="Banda3Shape5"/>
          <p:cNvSpPr/>
          <p:nvPr/>
        </p:nvSpPr>
        <p:spPr>
          <a:xfrm>
            <a:off x="9292590" y="1965960"/>
            <a:ext cx="457200" cy="457200"/>
          </a:xfrm>
          <a:prstGeom prst="ellipse">
            <a:avLst/>
          </a:prstGeom>
          <a:solidFill>
            <a:srgbClr val="B84C4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426" name="Banda3Shape6"/>
          <p:cNvSpPr/>
          <p:nvPr/>
        </p:nvSpPr>
        <p:spPr>
          <a:xfrm>
            <a:off x="929259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50" dirty="0"/>
          </a:p>
        </p:txBody>
      </p:sp>
      <p:sp>
        <p:nvSpPr>
          <p:cNvPr id="427" name="Banda3Shape7"/>
          <p:cNvSpPr/>
          <p:nvPr/>
        </p:nvSpPr>
        <p:spPr>
          <a:xfrm>
            <a:off x="9932670" y="2029968"/>
            <a:ext cx="14058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Muy Alto Riesgo</a:t>
            </a:r>
            <a:endParaRPr lang="en-US" sz="1700" dirty="0"/>
          </a:p>
        </p:txBody>
      </p:sp>
      <p:sp>
        <p:nvSpPr>
          <p:cNvPr id="428" name="Banda3Shape8"/>
          <p:cNvSpPr/>
          <p:nvPr/>
        </p:nvSpPr>
        <p:spPr>
          <a:xfrm>
            <a:off x="9292590" y="2606040"/>
            <a:ext cx="2045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PD</a:t>
            </a:r>
            <a:endParaRPr lang="en-US" sz="1300" dirty="0"/>
          </a:p>
        </p:txBody>
      </p:sp>
      <p:sp>
        <p:nvSpPr>
          <p:cNvPr id="429" name="Banda3Shape9"/>
          <p:cNvSpPr/>
          <p:nvPr/>
        </p:nvSpPr>
        <p:spPr>
          <a:xfrm>
            <a:off x="9292590" y="2971800"/>
            <a:ext cx="2045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4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 &gt; 16.7%</a:t>
            </a:r>
            <a:endParaRPr lang="en-US" sz="2200" dirty="0"/>
          </a:p>
        </p:txBody>
      </p:sp>
      <p:sp>
        <p:nvSpPr>
          <p:cNvPr id="430" name="Banda3Shape10"/>
          <p:cNvSpPr/>
          <p:nvPr/>
        </p:nvSpPr>
        <p:spPr>
          <a:xfrm>
            <a:off x="9292590" y="3611880"/>
            <a:ext cx="2045970" cy="0"/>
          </a:xfrm>
          <a:prstGeom prst="line">
            <a:avLst/>
          </a:prstGeom>
          <a:noFill/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431" name="Banda3Shape11"/>
          <p:cNvSpPr/>
          <p:nvPr/>
        </p:nvSpPr>
        <p:spPr>
          <a:xfrm>
            <a:off x="9292590" y="3749040"/>
            <a:ext cx="20459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Rechazo (único segmento no rentable: ROA -3.9%)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clave, en lenguaje de negocio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El pareto de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importancia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 o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contribución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 que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tuvieron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 las variables a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nivel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 global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fueron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 las </a:t>
            </a:r>
            <a:r>
              <a:rPr lang="en-US" sz="1250" i="1" dirty="0" err="1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siguientes</a:t>
            </a: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cs typeface="Calibri" pitchFamily="34" charset="-120"/>
              </a:rPr>
              <a:t>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40910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6" name="Shape 4"/>
          <p:cNvSpPr/>
          <p:nvPr/>
        </p:nvSpPr>
        <p:spPr>
          <a:xfrm>
            <a:off x="777240" y="226036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7" name="Text 5"/>
          <p:cNvSpPr/>
          <p:nvPr/>
        </p:nvSpPr>
        <p:spPr>
          <a:xfrm>
            <a:off x="777240" y="22603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13235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la línea de crédito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3440" y="213235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que usan casi todo su cupo disponible incumplen con más frecuencia — es la señal más fuerte del modelo.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92270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11" name="Shape 9"/>
          <p:cNvSpPr/>
          <p:nvPr/>
        </p:nvSpPr>
        <p:spPr>
          <a:xfrm>
            <a:off x="777240" y="361172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2" name="Text 10"/>
          <p:cNvSpPr/>
          <p:nvPr/>
        </p:nvSpPr>
        <p:spPr>
          <a:xfrm>
            <a:off x="777240" y="361172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48371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Atrasos recientes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3440" y="348371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o más atrasos de 60+ días en el historial reciente multiplica el riesgo de default.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33576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16" name="Shape 14"/>
          <p:cNvSpPr/>
          <p:nvPr/>
        </p:nvSpPr>
        <p:spPr>
          <a:xfrm>
            <a:off x="777240" y="50530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7" name="Text 15"/>
          <p:cNvSpPr/>
          <p:nvPr/>
        </p:nvSpPr>
        <p:spPr>
          <a:xfrm>
            <a:off x="777240" y="5053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92501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Edad del cliente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63440" y="4925016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segmentos más jóvenes muestran mayor riesgo relativo, probablemente por menor historial crediticio.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económico del modelo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7.18%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de cartera (ponderado, real)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8" name="Text 6"/>
          <p:cNvSpPr/>
          <p:nvPr/>
        </p:nvSpPr>
        <p:spPr>
          <a:xfrm>
            <a:off x="4343400" y="18745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91.6%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617720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cartera en bandas </a:t>
            </a:r>
            <a:r>
              <a:rPr lang="en-US" sz="1200" dirty="0" err="1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rentables</a:t>
            </a: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(Bajo + Medio + Alto)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1" name="Text 9"/>
          <p:cNvSpPr/>
          <p:nvPr/>
        </p:nvSpPr>
        <p:spPr>
          <a:xfrm>
            <a:off x="8138160" y="18745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B84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-3.9%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412480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de Muy Alto Riesgo — único segmento no rentable</a:t>
            </a:r>
            <a:endParaRPr lang="en-US" sz="12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48640" y="3703320"/>
          <a:ext cx="60350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6858000" y="3703320"/>
            <a:ext cx="4754880" cy="26060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5" name="Text 12"/>
          <p:cNvSpPr/>
          <p:nvPr/>
        </p:nvSpPr>
        <p:spPr>
          <a:xfrm>
            <a:off x="7132320" y="3886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del cálculo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32320" y="4251960"/>
            <a:ext cx="4206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por intereses y comisiones, menos pérdida esperada (PD × LGD × EAD) y costo de capital, sobre la cartera real segmentada en las 4 bandas de riesgo del modelo (gestion_portafolio(), 04_model_evaluation.ipynb).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de cartera por banda de riesgo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Participación, tasa activa, ROA y utilidad neta reales de las 4 bandas de riesgo — la base con la que se validaron los thresholds del modelo en producción.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548640" y="1965960"/>
          <a:ext cx="11064240" cy="219456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Participación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activa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Utilidad neta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 Riesgo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S/13.3M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 Riesgo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S/19.3M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Riesgo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S/32.5M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Alto Riesgo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41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S/-2.8M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348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7" name="Shape 4"/>
          <p:cNvSpPr/>
          <p:nvPr/>
        </p:nvSpPr>
        <p:spPr>
          <a:xfrm>
            <a:off x="868680" y="5173852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E" dirty="0"/>
          </a:p>
        </p:txBody>
      </p:sp>
      <p:sp>
        <p:nvSpPr>
          <p:cNvPr id="8" name="Text 5"/>
          <p:cNvSpPr/>
          <p:nvPr/>
        </p:nvSpPr>
        <p:spPr>
          <a:xfrm>
            <a:off x="868680" y="51738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40" dirty="0"/>
          </a:p>
        </p:txBody>
      </p:sp>
      <p:sp>
        <p:nvSpPr>
          <p:cNvPr id="9" name="Text 6"/>
          <p:cNvSpPr/>
          <p:nvPr/>
        </p:nvSpPr>
        <p:spPr>
          <a:xfrm>
            <a:off x="155448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54480" y="4956048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foco de gestión debe estar en Muy Alto Riesgo (8.4% de la cartera, ROA -3.9%) — candidata a rechazo o repricing. Las otras 3 bandas ya son rentables (ROA 4.7% a 12.9%) y no requieren intervención.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 e implementación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5" name="Shape 3"/>
          <p:cNvSpPr/>
          <p:nvPr/>
        </p:nvSpPr>
        <p:spPr>
          <a:xfrm>
            <a:off x="822960" y="19933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202517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de 4 bandas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Adoptar las 4 bandas de riesgo ya calibradas en producción, con foco de revisión a 90 días en el tratamiento de Muy Alto Riesgo (única banda no rentable).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737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0" name="Shape 8"/>
          <p:cNvSpPr/>
          <p:nvPr/>
        </p:nvSpPr>
        <p:spPr>
          <a:xfrm>
            <a:off x="6519672" y="19933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1" name="Text 9"/>
          <p:cNvSpPr/>
          <p:nvPr/>
        </p:nvSpPr>
        <p:spPr>
          <a:xfrm>
            <a:off x="651967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59752" y="202517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Monitoreo continuo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9672" y="256032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mensual de Gini, PSI y tasa de default observada vs. esperada por banda.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5" name="Shape 13"/>
          <p:cNvSpPr/>
          <p:nvPr/>
        </p:nvSpPr>
        <p:spPr>
          <a:xfrm>
            <a:off x="822960" y="43251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6" name="Text 14"/>
          <p:cNvSpPr/>
          <p:nvPr/>
        </p:nvSpPr>
        <p:spPr>
          <a:xfrm>
            <a:off x="82296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35689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Gobernanza del modelo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dueño del modelo, comité de validación y umbral de alerta para recalibración.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45352" y="40690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20" name="Shape 18"/>
          <p:cNvSpPr/>
          <p:nvPr/>
        </p:nvSpPr>
        <p:spPr>
          <a:xfrm>
            <a:off x="6519672" y="43251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1" name="Text 19"/>
          <p:cNvSpPr/>
          <p:nvPr/>
        </p:nvSpPr>
        <p:spPr>
          <a:xfrm>
            <a:off x="6519672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59752" y="435689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reentrenamiento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19672" y="489204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Reentrenar cuando el Gini caiga &gt;10% de la línea base o cada 12-18 meses, lo que ocurra primero.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TÉCNICO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 AUC 0.84-0.86, calibrado, estable en el tiempo (Gini sin degradación estructural) y explicable a nivel individual mediante SHAP.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5352" y="182880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9" name="Text 7"/>
          <p:cNvSpPr/>
          <p:nvPr/>
        </p:nvSpPr>
        <p:spPr>
          <a:xfrm>
            <a:off x="6565392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NEGOCIO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65392" y="24231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las 4 bandas de riesgo calibradas, el ROA de cartera ponderado es 7.18% y el 91.6% de la cartera está en bandas rentables — Muy Alto Riesgo (8.4%, ROA -3.9%) es el único segmento candidato a rechazo o repricing.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Credit — Modelo de Scoring de Riesgo Crediticio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1851</Words>
  <Application>Microsoft Macintosh PowerPoint</Application>
  <PresentationFormat>Widescreen</PresentationFormat>
  <Paragraphs>333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Office</cp:lastModifiedBy>
  <cp:revision>5</cp:revision>
  <dcterms:created xsi:type="dcterms:W3CDTF">2026-08-20T21:18:28Z</dcterms:created>
  <dcterms:modified xsi:type="dcterms:W3CDTF">2026-08-27T03:34:09Z</dcterms:modified>
</cp:coreProperties>
</file>